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spPr>
            <a:solidFill>
              <a:srgbClr val="1F26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6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26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7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77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Tata Motors</c:v>
                  </c:pt>
                  <c:pt idx="1">
                    <c:v>Ashok Leyland</c:v>
                  </c:pt>
                  <c:pt idx="2">
                    <c:v>Eicher (VECV)</c:v>
                  </c:pt>
                  <c:pt idx="3">
                    <c:v>BharatBenz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39641</c:v>
                </c:pt>
                <c:pt idx="1">
                  <c:v>19590</c:v>
                </c:pt>
                <c:pt idx="2">
                  <c:v>8241</c:v>
                </c:pt>
                <c:pt idx="3">
                  <c:v>1667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62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62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FE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Unit share %</c:v>
                </c:pt>
              </c:strCache>
            </c:strRef>
          </c:tx>
          <c:spPr>
            <a:solidFill>
              <a:srgbClr val="5B677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6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Tata Motors</c:v>
                  </c:pt>
                  <c:pt idx="1">
                    <c:v>Ashok Leyland</c:v>
                  </c:pt>
                  <c:pt idx="2">
                    <c:v>Eicher (VECV)</c:v>
                  </c:pt>
                  <c:pt idx="3">
                    <c:v>BharatBenz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57.3</c:v>
                </c:pt>
                <c:pt idx="1">
                  <c:v>28.3</c:v>
                </c:pt>
                <c:pt idx="2">
                  <c:v>11.9</c:v>
                </c:pt>
                <c:pt idx="3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 share %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6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Tata Motors</c:v>
                  </c:pt>
                  <c:pt idx="1">
                    <c:v>Ashok Leyland</c:v>
                  </c:pt>
                  <c:pt idx="2">
                    <c:v>Eicher (VECV)</c:v>
                  </c:pt>
                  <c:pt idx="3">
                    <c:v>BharatBenz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55.3</c:v>
                </c:pt>
                <c:pt idx="1">
                  <c:v>31</c:v>
                </c:pt>
                <c:pt idx="2">
                  <c:v>10.1</c:v>
                </c:pt>
                <c:pt idx="3">
                  <c:v>3.6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62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62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FE2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ASP</c:v>
                </c:pt>
              </c:strCache>
            </c:strRef>
          </c:tx>
          <c:spPr>
            <a:solidFill>
              <a:srgbClr val="1F26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6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26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7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A90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Tata Motors</c:v>
                  </c:pt>
                  <c:pt idx="1">
                    <c:v>Ashok Leyland</c:v>
                  </c:pt>
                  <c:pt idx="2">
                    <c:v>Eicher (VECV)</c:v>
                  </c:pt>
                  <c:pt idx="3">
                    <c:v>BharatBenz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18.5</c:v>
                </c:pt>
                <c:pt idx="1">
                  <c:v>21</c:v>
                </c:pt>
                <c:pt idx="2">
                  <c:v>16.2</c:v>
                </c:pt>
                <c:pt idx="3">
                  <c:v>28.5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62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62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DDFE2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F26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6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Tata Motors</c:v>
                  </c:pt>
                  <c:pt idx="1">
                    <c:v>Ashok Leyland</c:v>
                  </c:pt>
                  <c:pt idx="2">
                    <c:v>Eicher (VECV)</c:v>
                  </c:pt>
                  <c:pt idx="3">
                    <c:v>BharatBenz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7333.59</c:v>
                </c:pt>
                <c:pt idx="1">
                  <c:v>4113.9</c:v>
                </c:pt>
                <c:pt idx="2">
                  <c:v>1335.04</c:v>
                </c:pt>
                <c:pt idx="3">
                  <c:v>475.1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6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Tata Motors</c:v>
                  </c:pt>
                  <c:pt idx="1">
                    <c:v>Ashok Leyland</c:v>
                  </c:pt>
                  <c:pt idx="2">
                    <c:v>Eicher (VECV)</c:v>
                  </c:pt>
                  <c:pt idx="3">
                    <c:v>BharatBenz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7100</c:v>
                </c:pt>
                <c:pt idx="1">
                  <c:v>4250</c:v>
                </c:pt>
                <c:pt idx="2">
                  <c:v>1300</c:v>
                </c:pt>
                <c:pt idx="3">
                  <c:v>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62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62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FE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Variance %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6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Tata Motors</c:v>
                  </c:pt>
                  <c:pt idx="1">
                    <c:v>Ashok Leyland</c:v>
                  </c:pt>
                  <c:pt idx="2">
                    <c:v>Eicher (VECV)</c:v>
                  </c:pt>
                  <c:pt idx="3">
                    <c:v>BharatBenz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3.29</c:v>
                </c:pt>
                <c:pt idx="1">
                  <c:v>-3.2</c:v>
                </c:pt>
                <c:pt idx="2">
                  <c:v>2.7</c:v>
                </c:pt>
                <c:pt idx="3">
                  <c:v>5.58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F262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62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FE2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YoY %</c:v>
                </c:pt>
              </c:strCache>
            </c:strRef>
          </c:tx>
          <c:spPr>
            <a:solidFill>
              <a:srgbClr val="1F26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62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26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7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77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Tata Motors</c:v>
                  </c:pt>
                  <c:pt idx="1">
                    <c:v>Ashok Leyland</c:v>
                  </c:pt>
                  <c:pt idx="2">
                    <c:v>Eicher (VECV)</c:v>
                  </c:pt>
                  <c:pt idx="3">
                    <c:v>BharatBenz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36.9</c:v>
                </c:pt>
                <c:pt idx="1">
                  <c:v>30</c:v>
                </c:pt>
                <c:pt idx="2">
                  <c:v>15.8</c:v>
                </c:pt>
                <c:pt idx="3">
                  <c:v>14.2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62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62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FE2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6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801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Vehicles Sales Revenue Dashboard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Tracker | Tata Motors, Ashok Leyland, Eicher (VECV), BharatBenz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 study, July 2026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Student Name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and Scope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study measures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Vehicles Sales Revenue Study | July 2026   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737360"/>
            <a:ext cx="731520" cy="7315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1600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OEMs compared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20116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Motors, Ashok Leyland, Eicher (VECV), BharatBenz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92040" y="1737360"/>
            <a:ext cx="731520" cy="7315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1600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 tracked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0116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ASP, revenue, target, variance, YoY growth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" y="3383280"/>
            <a:ext cx="731520" cy="7315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246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analysed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sales, in ₹ Crore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301752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92040" y="3383280"/>
            <a:ext cx="731520" cy="7315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5852160" y="32461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KPIs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85216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revenue, variance, units sold, avg. growth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KPIs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performance at a glance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Vehicles Sales Revenue Study | July 2026   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9202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₹13,258 Cr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40203"/>
            <a:ext cx="1645920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14600" y="1463040"/>
            <a:ext cx="19202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14600" y="164592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2540203"/>
            <a:ext cx="1645920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variance vs target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0" y="1463040"/>
            <a:ext cx="19202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72000" y="164592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69,139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2540203"/>
            <a:ext cx="1645920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units sold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29400" y="1463040"/>
            <a:ext cx="2057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629400" y="16459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24.2%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2540203"/>
            <a:ext cx="1783080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YoY growth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beat the ₹13,100 Cr target by ₹157.6 Cr, on an average selling price of ₹19.18 Lakh per unit.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Units Sold by OEM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Motors sells more than half of all vehicles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Vehicles Sales Revenue Study | July 2026   4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8016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280160"/>
            <a:ext cx="2651760" cy="3383280"/>
          </a:xfrm>
          <a:prstGeom prst="roundRect">
            <a:avLst>
              <a:gd name="adj" fmla="val 3448"/>
            </a:avLst>
          </a:prstGeom>
          <a:solidFill>
            <a:srgbClr val="1F26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26364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92024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Motors: 39,641 units, 57.3% share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Ashok Leyland: 28.3% share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two OEMs hold 85.7% of volume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BharatBenz is a niche player at 2.4%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Share vs Revenue Share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pricing lifts BharatBenz and Ashok Leyland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Vehicles Sales Revenue Study | July 2026   5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8016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280160"/>
            <a:ext cx="2651760" cy="3383280"/>
          </a:xfrm>
          <a:prstGeom prst="roundRect">
            <a:avLst>
              <a:gd name="adj" fmla="val 3448"/>
            </a:avLst>
          </a:prstGeom>
          <a:solidFill>
            <a:srgbClr val="1F26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26364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92024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Tata: 57.3% of units but 55.3% of revenue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Ashok Leyland: 28.3% of units, 31.0% of revenue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BharatBenz: 2.4% of units, 3.6% of revenue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 Selling Price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Lakh per unit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Vehicles Sales Revenue Study | July 2026   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8016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280160"/>
            <a:ext cx="2651760" cy="3383280"/>
          </a:xfrm>
          <a:prstGeom prst="roundRect">
            <a:avLst>
              <a:gd name="adj" fmla="val 3448"/>
            </a:avLst>
          </a:prstGeom>
          <a:solidFill>
            <a:srgbClr val="1F26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26364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92024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BharatBenz is highest at ₹28.5 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Ashok Leyland follows at ₹21.0 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sits near the portfolio average of ₹19.2 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Eicher is the most affordable at ₹16.2 L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vs Target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Crore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Vehicles Sales Revenue Study | July 2026   7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8016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280160"/>
            <a:ext cx="2651760" cy="3383280"/>
          </a:xfrm>
          <a:prstGeom prst="roundRect">
            <a:avLst>
              <a:gd name="adj" fmla="val 3448"/>
            </a:avLst>
          </a:prstGeom>
          <a:solidFill>
            <a:srgbClr val="1F26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26364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92024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Tata: +₹233.6 Cr vs target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Ashok Leyland: ₹-136.1 Cr short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Eicher: +₹35.0 Cr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BharatBenz: +₹25.1 Cr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surplus: +₹157.6 Cr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Variance vs Target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above or below target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Vehicles Sales Revenue Study | July 2026   8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8016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280160"/>
            <a:ext cx="2651760" cy="3383280"/>
          </a:xfrm>
          <a:prstGeom prst="roundRect">
            <a:avLst>
              <a:gd name="adj" fmla="val 3448"/>
            </a:avLst>
          </a:prstGeom>
          <a:solidFill>
            <a:srgbClr val="1F26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26364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92024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four OEMs beat target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BharatBenz leads at +5.58%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Ashok Leyland is the only miss at -3.20%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variance: +1.20%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Year-on-Year Revenue Growth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growth over July 2025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Vehicles Sales Revenue Study | July 2026   9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8016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280160"/>
            <a:ext cx="2651760" cy="3383280"/>
          </a:xfrm>
          <a:prstGeom prst="roundRect">
            <a:avLst>
              <a:gd name="adj" fmla="val 3448"/>
            </a:avLst>
          </a:prstGeom>
          <a:solidFill>
            <a:srgbClr val="1F26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26364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92024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Motors grew fastest at 36.9%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Ashok Leyland followed at 30.0%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Eicher (15.8%) and BharatBenz (14.2%) grew slower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average growth: 24.2%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Revenue-Weighted Growth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OEMs pull the true portfolio growth above the simple average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Vehicles Sales Revenue Study | July 2026   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5603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24.2%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40203"/>
            <a:ext cx="2286000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average of OEM growth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463040"/>
            <a:ext cx="25603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29184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31.4%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540203"/>
            <a:ext cx="2286000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Revenue-weighted growth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463040"/>
            <a:ext cx="25603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12648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₹10,090 Cr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540203"/>
            <a:ext cx="2286000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July 2025 revenue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fastest growers (Tata, Ashok Leyland) are also the largest by revenue, so weighting by revenue lifts portfolio growth to about 31.4%. Prior-year revenue is derived as current revenue ÷ (1 + YoY growth).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Scorecard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metrics side by side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Vehicles Sales Revenue Study | July 2026   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1005840"/>
                <a:gridCol w="1371600"/>
                <a:gridCol w="1280160"/>
                <a:gridCol w="109728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 (₹ 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(₹ Cr)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(₹ Cr)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Motors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7,333.6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+3.29%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Ashok Leyland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4,113.9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Eicher (VECV)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+2.70%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BharatBenz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475.1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+5.58%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/ Avg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13,257.6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6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F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Vehicles Sales Revenue Study | July 2026  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23444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188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leader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1887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Motors holds 57.3% of units and 55.3% of revenue.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057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premium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0574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BharatBenz earns 3.6% of revenue from only 2.4% of units.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926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miss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2926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Ashok Leyland fell ₹136.1 Cr (3.2%) short of its target.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7033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6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momentum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3794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is up about 31% year on year, revenue-weighted.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26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and Recommendations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closed at ₹13,257.6 Cr, 1.2% above target, with 69,139 units sold.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8046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Ashok Leyland: close the ₹136 Cr gap through volume push or pricing review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Eicher and BharatBenz: raise growth above 14-16% to match the leaders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BharatBenz: scale premium-segment volume, where realisation is highest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Motors: protect its lead while improving realisation per unit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2026-10-01T06:13:43Z</dcterms:created>
  <dcterms:modified xsi:type="dcterms:W3CDTF">2026-10-01T06:13:43Z</dcterms:modified>
</cp:coreProperties>
</file>