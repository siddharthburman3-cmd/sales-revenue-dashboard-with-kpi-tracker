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5033" autoAdjust="0"/>
  </p:normalViewPr>
  <p:slideViewPr>
    <p:cSldViewPr snapToGrid="0" snapToObjects="1">
      <p:cViewPr varScale="1">
        <p:scale>
          <a:sx n="82" d="100"/>
          <a:sy n="82" d="100"/>
        </p:scale>
        <p:origin x="691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spc="100" baseline="0">
                <a:solidFill>
                  <a:schemeClr val="lt1">
                    <a:lumMod val="9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adugi" panose="020B0502040204020203" pitchFamily="34" charset="0"/>
                <a:ea typeface="Gadugi" panose="020B0502040204020203" pitchFamily="34" charset="0"/>
                <a:cs typeface="+mn-cs"/>
              </a:defRPr>
            </a:pPr>
            <a:r>
              <a:rPr lang="en-IN"/>
              <a:t>Revenue by OEM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spc="100" baseline="0">
              <a:solidFill>
                <a:schemeClr val="lt1">
                  <a:lumMod val="95000"/>
                </a:schemeClr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Gadugi" panose="020B0502040204020203" pitchFamily="34" charset="0"/>
              <a:ea typeface="Gadugi" panose="020B0502040204020203" pitchFamily="34" charset="0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(₹ Cr)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gradFill rotWithShape="1">
                <a:gsLst>
                  <a:gs pos="0">
                    <a:schemeClr val="accent1">
                      <a:tint val="100000"/>
                      <a:shade val="100000"/>
                      <a:satMod val="130000"/>
                    </a:schemeClr>
                  </a:gs>
                  <a:gs pos="100000">
                    <a:schemeClr val="accent1">
                      <a:tint val="50000"/>
                      <a:shade val="100000"/>
                      <a:satMod val="350000"/>
                    </a:schemeClr>
                  </a:gs>
                </a:gsLst>
                <a:lin ang="16200000" scaled="0"/>
              </a:gra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>
                <a:bevelT w="63500" h="25400"/>
              </a:sp3d>
            </c:spPr>
          </c:dPt>
          <c:dPt>
            <c:idx val="1"/>
            <c:invertIfNegative val="1"/>
            <c:bubble3D val="0"/>
            <c:spPr>
              <a:gradFill rotWithShape="1">
                <a:gsLst>
                  <a:gs pos="0">
                    <a:schemeClr val="accent2">
                      <a:tint val="100000"/>
                      <a:shade val="100000"/>
                      <a:satMod val="130000"/>
                    </a:schemeClr>
                  </a:gs>
                  <a:gs pos="100000">
                    <a:schemeClr val="accent2">
                      <a:tint val="50000"/>
                      <a:shade val="100000"/>
                      <a:satMod val="350000"/>
                    </a:schemeClr>
                  </a:gs>
                </a:gsLst>
                <a:lin ang="16200000" scaled="0"/>
              </a:gra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>
                <a:bevelT w="63500" h="25400"/>
              </a:sp3d>
            </c:spPr>
          </c:dPt>
          <c:dPt>
            <c:idx val="2"/>
            <c:invertIfNegative val="1"/>
            <c:bubble3D val="0"/>
            <c:spPr>
              <a:gradFill rotWithShape="1">
                <a:gsLst>
                  <a:gs pos="0">
                    <a:schemeClr val="accent3">
                      <a:tint val="100000"/>
                      <a:shade val="100000"/>
                      <a:satMod val="130000"/>
                    </a:schemeClr>
                  </a:gs>
                  <a:gs pos="100000">
                    <a:schemeClr val="accent3">
                      <a:tint val="50000"/>
                      <a:shade val="100000"/>
                      <a:satMod val="350000"/>
                    </a:schemeClr>
                  </a:gs>
                </a:gsLst>
                <a:lin ang="16200000" scaled="0"/>
              </a:gra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>
                <a:bevelT w="63500" h="25400"/>
              </a:sp3d>
            </c:spPr>
          </c:dPt>
          <c:dPt>
            <c:idx val="3"/>
            <c:invertIfNegative val="1"/>
            <c:bubble3D val="0"/>
            <c:spPr>
              <a:gradFill rotWithShape="1">
                <a:gsLst>
                  <a:gs pos="0">
                    <a:schemeClr val="accent4">
                      <a:tint val="100000"/>
                      <a:shade val="100000"/>
                      <a:satMod val="130000"/>
                    </a:schemeClr>
                  </a:gs>
                  <a:gs pos="100000">
                    <a:schemeClr val="accent4">
                      <a:tint val="50000"/>
                      <a:shade val="100000"/>
                      <a:satMod val="350000"/>
                    </a:schemeClr>
                  </a:gs>
                </a:gsLst>
                <a:lin ang="16200000" scaled="0"/>
              </a:gra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>
                <a:bevelT w="63500" h="25400"/>
              </a:sp3d>
            </c:spPr>
          </c:dPt>
          <c:cat>
            <c:strRef>
              <c:f>Sheet1!$A$2:$A$5</c:f>
              <c:strCache>
                <c:ptCount val="4"/>
                <c:pt idx="0">
                  <c:v>Tata Motors</c:v>
                </c:pt>
                <c:pt idx="1">
                  <c:v>Ashok Leyland</c:v>
                </c:pt>
                <c:pt idx="2">
                  <c:v>Eicher</c:v>
                </c:pt>
                <c:pt idx="3">
                  <c:v>BharatBenz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7333.59</c:v>
                </c:pt>
                <c:pt idx="1">
                  <c:v>4113.8999999999996</c:v>
                </c:pt>
                <c:pt idx="2">
                  <c:v>1335.04</c:v>
                </c:pt>
                <c:pt idx="3">
                  <c:v>475.1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F90-470A-A938-38A568E3353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12700" cap="flat" cmpd="sng" algn="ctr">
            <a:solidFill>
              <a:schemeClr val="lt1">
                <a:lumMod val="95000"/>
                <a:alpha val="54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lt1">
                    <a:lumMod val="85000"/>
                  </a:schemeClr>
                </a:solidFill>
                <a:latin typeface="Gadugi" panose="020B0502040204020203" pitchFamily="34" charset="0"/>
                <a:ea typeface="Gadugi" panose="020B0502040204020203" pitchFamily="34" charset="0"/>
                <a:cs typeface="+mn-cs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5000"/>
                  <a:alpha val="10000"/>
                </a:schemeClr>
              </a:solidFill>
              <a:round/>
            </a:ln>
            <a:effectLst/>
          </c:spPr>
        </c:majorGridlines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lt1">
                    <a:lumMod val="85000"/>
                  </a:schemeClr>
                </a:solidFill>
                <a:latin typeface="Gadugi" panose="020B0502040204020203" pitchFamily="34" charset="0"/>
                <a:ea typeface="Gadugi" panose="020B0502040204020203" pitchFamily="34" charset="0"/>
                <a:cs typeface="+mn-cs"/>
              </a:defRPr>
            </a:pPr>
            <a:endParaRPr lang="en-US"/>
          </a:p>
        </c:txPr>
        <c:crossAx val="-206802733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1"/>
  </c:chart>
  <c:spPr>
    <a:gradFill flip="none" rotWithShape="1">
      <a:gsLst>
        <a:gs pos="0">
          <a:schemeClr val="dk1">
            <a:lumMod val="65000"/>
            <a:lumOff val="35000"/>
          </a:schemeClr>
        </a:gs>
        <a:gs pos="100000">
          <a:schemeClr val="dk1">
            <a:lumMod val="85000"/>
            <a:lumOff val="15000"/>
          </a:schemeClr>
        </a:gs>
      </a:gsLst>
      <a:path path="circle">
        <a:fillToRect l="50000" t="50000" r="50000" b="50000"/>
      </a:path>
      <a:tileRect/>
    </a:gradFill>
    <a:ln>
      <a:noFill/>
    </a:ln>
    <a:effectLst/>
  </c:spPr>
  <c:txPr>
    <a:bodyPr/>
    <a:lstStyle/>
    <a:p>
      <a:pPr>
        <a:defRPr b="1">
          <a:latin typeface="Gadugi" panose="020B0502040204020203" pitchFamily="34" charset="0"/>
          <a:ea typeface="Gadugi" panose="020B0502040204020203" pitchFamily="34" charset="0"/>
        </a:defRPr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spc="100" baseline="0">
                <a:solidFill>
                  <a:schemeClr val="lt1">
                    <a:lumMod val="9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adugi" panose="020B0502040204020203" pitchFamily="34" charset="0"/>
                <a:ea typeface="Gadugi" panose="020B0502040204020203" pitchFamily="34" charset="0"/>
                <a:cs typeface="+mn-cs"/>
              </a:defRPr>
            </a:pPr>
            <a:r>
              <a:rPr lang="en-IN"/>
              <a:t>YoY Revenue Growth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spc="100" baseline="0">
              <a:solidFill>
                <a:schemeClr val="lt1">
                  <a:lumMod val="95000"/>
                </a:schemeClr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Gadugi" panose="020B0502040204020203" pitchFamily="34" charset="0"/>
              <a:ea typeface="Gadugi" panose="020B0502040204020203" pitchFamily="34" charset="0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YoY Growth (%)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gradFill rotWithShape="1">
                <a:gsLst>
                  <a:gs pos="0">
                    <a:schemeClr val="accent1">
                      <a:tint val="100000"/>
                      <a:shade val="100000"/>
                      <a:satMod val="130000"/>
                    </a:schemeClr>
                  </a:gs>
                  <a:gs pos="100000">
                    <a:schemeClr val="accent1">
                      <a:tint val="50000"/>
                      <a:shade val="100000"/>
                      <a:satMod val="350000"/>
                    </a:schemeClr>
                  </a:gs>
                </a:gsLst>
                <a:lin ang="16200000" scaled="0"/>
              </a:gra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>
                <a:bevelT w="63500" h="25400"/>
              </a:sp3d>
            </c:spPr>
          </c:dPt>
          <c:dPt>
            <c:idx val="1"/>
            <c:invertIfNegative val="1"/>
            <c:bubble3D val="0"/>
            <c:spPr>
              <a:gradFill rotWithShape="1">
                <a:gsLst>
                  <a:gs pos="0">
                    <a:schemeClr val="accent2">
                      <a:tint val="100000"/>
                      <a:shade val="100000"/>
                      <a:satMod val="130000"/>
                    </a:schemeClr>
                  </a:gs>
                  <a:gs pos="100000">
                    <a:schemeClr val="accent2">
                      <a:tint val="50000"/>
                      <a:shade val="100000"/>
                      <a:satMod val="350000"/>
                    </a:schemeClr>
                  </a:gs>
                </a:gsLst>
                <a:lin ang="16200000" scaled="0"/>
              </a:gra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>
                <a:bevelT w="63500" h="25400"/>
              </a:sp3d>
            </c:spPr>
          </c:dPt>
          <c:dPt>
            <c:idx val="2"/>
            <c:invertIfNegative val="1"/>
            <c:bubble3D val="0"/>
            <c:spPr>
              <a:gradFill rotWithShape="1">
                <a:gsLst>
                  <a:gs pos="0">
                    <a:schemeClr val="accent3">
                      <a:tint val="100000"/>
                      <a:shade val="100000"/>
                      <a:satMod val="130000"/>
                    </a:schemeClr>
                  </a:gs>
                  <a:gs pos="100000">
                    <a:schemeClr val="accent3">
                      <a:tint val="50000"/>
                      <a:shade val="100000"/>
                      <a:satMod val="350000"/>
                    </a:schemeClr>
                  </a:gs>
                </a:gsLst>
                <a:lin ang="16200000" scaled="0"/>
              </a:gra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>
                <a:bevelT w="63500" h="25400"/>
              </a:sp3d>
            </c:spPr>
          </c:dPt>
          <c:dPt>
            <c:idx val="3"/>
            <c:invertIfNegative val="1"/>
            <c:bubble3D val="0"/>
            <c:spPr>
              <a:gradFill rotWithShape="1">
                <a:gsLst>
                  <a:gs pos="0">
                    <a:schemeClr val="accent4">
                      <a:tint val="100000"/>
                      <a:shade val="100000"/>
                      <a:satMod val="130000"/>
                    </a:schemeClr>
                  </a:gs>
                  <a:gs pos="100000">
                    <a:schemeClr val="accent4">
                      <a:tint val="50000"/>
                      <a:shade val="100000"/>
                      <a:satMod val="350000"/>
                    </a:schemeClr>
                  </a:gs>
                </a:gsLst>
                <a:lin ang="16200000" scaled="0"/>
              </a:gra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>
                <a:bevelT w="63500" h="25400"/>
              </a:sp3d>
            </c:spPr>
          </c:dPt>
          <c:cat>
            <c:strRef>
              <c:f>Sheet1!$A$2:$A$5</c:f>
              <c:strCache>
                <c:ptCount val="4"/>
                <c:pt idx="0">
                  <c:v>Tata Motors</c:v>
                </c:pt>
                <c:pt idx="1">
                  <c:v>Ashok Leyland</c:v>
                </c:pt>
                <c:pt idx="2">
                  <c:v>Eicher</c:v>
                </c:pt>
                <c:pt idx="3">
                  <c:v>BharatBenz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36.9</c:v>
                </c:pt>
                <c:pt idx="1">
                  <c:v>30</c:v>
                </c:pt>
                <c:pt idx="2">
                  <c:v>15.8</c:v>
                </c:pt>
                <c:pt idx="3">
                  <c:v>14.2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1B1-4137-A83F-F299032B0B1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12700" cap="flat" cmpd="sng" algn="ctr">
            <a:solidFill>
              <a:schemeClr val="lt1">
                <a:lumMod val="95000"/>
                <a:alpha val="54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lt1">
                    <a:lumMod val="85000"/>
                  </a:schemeClr>
                </a:solidFill>
                <a:latin typeface="Gadugi" panose="020B0502040204020203" pitchFamily="34" charset="0"/>
                <a:ea typeface="Gadugi" panose="020B0502040204020203" pitchFamily="34" charset="0"/>
                <a:cs typeface="+mn-cs"/>
              </a:defRPr>
            </a:pPr>
            <a:endParaRPr lang="en-US"/>
          </a:p>
        </c:txPr>
        <c:crossAx val="-2113994440"/>
        <c:crossesAt val="0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5000"/>
                  <a:alpha val="10000"/>
                </a:schemeClr>
              </a:solidFill>
              <a:round/>
            </a:ln>
            <a:effectLst/>
          </c:spPr>
        </c:majorGridlines>
        <c:numFmt formatCode="0.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lt1">
                    <a:lumMod val="85000"/>
                  </a:schemeClr>
                </a:solidFill>
                <a:latin typeface="Gadugi" panose="020B0502040204020203" pitchFamily="34" charset="0"/>
                <a:ea typeface="Gadugi" panose="020B0502040204020203" pitchFamily="34" charset="0"/>
                <a:cs typeface="+mn-cs"/>
              </a:defRPr>
            </a:pPr>
            <a:endParaRPr lang="en-US"/>
          </a:p>
        </c:txPr>
        <c:crossAx val="-206802733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1"/>
  </c:chart>
  <c:spPr>
    <a:gradFill flip="none" rotWithShape="1">
      <a:gsLst>
        <a:gs pos="0">
          <a:schemeClr val="dk1">
            <a:lumMod val="65000"/>
            <a:lumOff val="35000"/>
          </a:schemeClr>
        </a:gs>
        <a:gs pos="100000">
          <a:schemeClr val="dk1">
            <a:lumMod val="85000"/>
            <a:lumOff val="15000"/>
          </a:schemeClr>
        </a:gs>
      </a:gsLst>
      <a:path path="circle">
        <a:fillToRect l="50000" t="50000" r="50000" b="50000"/>
      </a:path>
      <a:tileRect/>
    </a:gradFill>
    <a:ln>
      <a:noFill/>
    </a:ln>
    <a:effectLst/>
  </c:spPr>
  <c:txPr>
    <a:bodyPr/>
    <a:lstStyle/>
    <a:p>
      <a:pPr>
        <a:defRPr b="1">
          <a:latin typeface="Gadugi" panose="020B0502040204020203" pitchFamily="34" charset="0"/>
          <a:ea typeface="Gadugi" panose="020B0502040204020203" pitchFamily="34" charset="0"/>
        </a:defRPr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spc="100" baseline="0">
                <a:solidFill>
                  <a:schemeClr val="lt1">
                    <a:lumMod val="9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adugi" panose="020B0502040204020203" pitchFamily="34" charset="0"/>
                <a:ea typeface="Gadugi" panose="020B0502040204020203" pitchFamily="34" charset="0"/>
                <a:cs typeface="+mn-cs"/>
              </a:defRPr>
            </a:pPr>
            <a:r>
              <a:rPr lang="en-IN"/>
              <a:t>Actual vs Target Revenue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spc="100" baseline="0">
              <a:solidFill>
                <a:schemeClr val="lt1">
                  <a:lumMod val="95000"/>
                </a:schemeClr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Gadugi" panose="020B0502040204020203" pitchFamily="34" charset="0"/>
              <a:ea typeface="Gadugi" panose="020B0502040204020203" pitchFamily="34" charset="0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Actual Revenue (₹ Cr)</c:v>
                </c:pt>
              </c:strCache>
            </c:strRef>
          </c:tx>
          <c:spPr>
            <a:gradFill rotWithShape="1">
              <a:gsLst>
                <a:gs pos="0">
                  <a:schemeClr val="accent1">
                    <a:tint val="100000"/>
                    <a:shade val="100000"/>
                    <a:satMod val="130000"/>
                  </a:schemeClr>
                </a:gs>
                <a:gs pos="100000">
                  <a:schemeClr val="accent1">
                    <a:tint val="50000"/>
                    <a:shade val="100000"/>
                    <a:satMod val="350000"/>
                  </a:schemeClr>
                </a:gs>
              </a:gsLst>
              <a:lin ang="16200000" scaled="0"/>
            </a:gra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200000"/>
              </a:lightRig>
            </a:scene3d>
            <a:sp3d>
              <a:bevelT w="63500" h="25400"/>
            </a:sp3d>
          </c:spPr>
          <c:invertIfNegative val="1"/>
          <c:cat>
            <c:strRef>
              <c:f>Sheet1!$A$2:$A$5</c:f>
              <c:strCache>
                <c:ptCount val="4"/>
                <c:pt idx="0">
                  <c:v>Tata Motors</c:v>
                </c:pt>
                <c:pt idx="1">
                  <c:v>Ashok Leyland</c:v>
                </c:pt>
                <c:pt idx="2">
                  <c:v>Eicher</c:v>
                </c:pt>
                <c:pt idx="3">
                  <c:v>BharatBenz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7333.59</c:v>
                </c:pt>
                <c:pt idx="1">
                  <c:v>4113.8999999999996</c:v>
                </c:pt>
                <c:pt idx="2">
                  <c:v>1335.04</c:v>
                </c:pt>
                <c:pt idx="3">
                  <c:v>475.1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ECF-47C6-B372-22213EE6DB1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 Revenue (₹ Cr)</c:v>
                </c:pt>
              </c:strCache>
            </c:strRef>
          </c:tx>
          <c:spPr>
            <a:gradFill rotWithShape="1">
              <a:gsLst>
                <a:gs pos="0">
                  <a:schemeClr val="accent2">
                    <a:tint val="100000"/>
                    <a:shade val="100000"/>
                    <a:satMod val="130000"/>
                  </a:schemeClr>
                </a:gs>
                <a:gs pos="100000">
                  <a:schemeClr val="accent2">
                    <a:tint val="50000"/>
                    <a:shade val="100000"/>
                    <a:satMod val="350000"/>
                  </a:schemeClr>
                </a:gs>
              </a:gsLst>
              <a:lin ang="16200000" scaled="0"/>
            </a:gra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200000"/>
              </a:lightRig>
            </a:scene3d>
            <a:sp3d>
              <a:bevelT w="63500" h="25400"/>
            </a:sp3d>
          </c:spPr>
          <c:invertIfNegative val="1"/>
          <c:cat>
            <c:strRef>
              <c:f>Sheet1!$A$2:$A$5</c:f>
              <c:strCache>
                <c:ptCount val="4"/>
                <c:pt idx="0">
                  <c:v>Tata Motors</c:v>
                </c:pt>
                <c:pt idx="1">
                  <c:v>Ashok Leyland</c:v>
                </c:pt>
                <c:pt idx="2">
                  <c:v>Eicher</c:v>
                </c:pt>
                <c:pt idx="3">
                  <c:v>BharatBenz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7100</c:v>
                </c:pt>
                <c:pt idx="1">
                  <c:v>4250</c:v>
                </c:pt>
                <c:pt idx="2">
                  <c:v>1300</c:v>
                </c:pt>
                <c:pt idx="3">
                  <c:v>450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ECF-47C6-B372-22213EE6DB1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12700" cap="flat" cmpd="sng" algn="ctr">
            <a:solidFill>
              <a:schemeClr val="lt1">
                <a:lumMod val="95000"/>
                <a:alpha val="54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lt1">
                    <a:lumMod val="85000"/>
                  </a:schemeClr>
                </a:solidFill>
                <a:latin typeface="Gadugi" panose="020B0502040204020203" pitchFamily="34" charset="0"/>
                <a:ea typeface="Gadugi" panose="020B0502040204020203" pitchFamily="34" charset="0"/>
                <a:cs typeface="+mn-cs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5000"/>
                  <a:alpha val="10000"/>
                </a:schemeClr>
              </a:solidFill>
              <a:round/>
            </a:ln>
            <a:effectLst/>
          </c:spPr>
        </c:majorGridlines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lt1">
                    <a:lumMod val="85000"/>
                  </a:schemeClr>
                </a:solidFill>
                <a:latin typeface="Gadugi" panose="020B0502040204020203" pitchFamily="34" charset="0"/>
                <a:ea typeface="Gadugi" panose="020B0502040204020203" pitchFamily="34" charset="0"/>
                <a:cs typeface="+mn-cs"/>
              </a:defRPr>
            </a:pPr>
            <a:endParaRPr lang="en-US"/>
          </a:p>
        </c:txPr>
        <c:crossAx val="-206802733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1" i="0" u="none" strike="noStrike" kern="1200" baseline="0">
              <a:solidFill>
                <a:schemeClr val="lt1">
                  <a:lumMod val="85000"/>
                </a:schemeClr>
              </a:solidFill>
              <a:latin typeface="Gadugi" panose="020B0502040204020203" pitchFamily="34" charset="0"/>
              <a:ea typeface="Gadugi" panose="020B0502040204020203" pitchFamily="34" charset="0"/>
              <a:cs typeface="+mn-cs"/>
            </a:defRPr>
          </a:pPr>
          <a:endParaRPr lang="en-US"/>
        </a:p>
      </c:txPr>
    </c:legend>
    <c:plotVisOnly val="1"/>
    <c:dispBlanksAs val="gap"/>
    <c:showDLblsOverMax val="1"/>
  </c:chart>
  <c:spPr>
    <a:gradFill flip="none" rotWithShape="1">
      <a:gsLst>
        <a:gs pos="0">
          <a:schemeClr val="dk1">
            <a:lumMod val="65000"/>
            <a:lumOff val="35000"/>
          </a:schemeClr>
        </a:gs>
        <a:gs pos="100000">
          <a:schemeClr val="dk1">
            <a:lumMod val="85000"/>
            <a:lumOff val="15000"/>
          </a:schemeClr>
        </a:gs>
      </a:gsLst>
      <a:path path="circle">
        <a:fillToRect l="50000" t="50000" r="50000" b="50000"/>
      </a:path>
      <a:tileRect/>
    </a:gradFill>
    <a:ln>
      <a:noFill/>
    </a:ln>
    <a:effectLst/>
  </c:spPr>
  <c:txPr>
    <a:bodyPr/>
    <a:lstStyle/>
    <a:p>
      <a:pPr>
        <a:defRPr b="1">
          <a:latin typeface="Gadugi" panose="020B0502040204020203" pitchFamily="34" charset="0"/>
          <a:ea typeface="Gadugi" panose="020B0502040204020203" pitchFamily="34" charset="0"/>
        </a:defRPr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spc="100" baseline="0">
                <a:solidFill>
                  <a:schemeClr val="lt1">
                    <a:lumMod val="9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adugi" panose="020B0502040204020203" pitchFamily="34" charset="0"/>
                <a:ea typeface="Gadugi" panose="020B0502040204020203" pitchFamily="34" charset="0"/>
                <a:cs typeface="+mn-cs"/>
              </a:defRPr>
            </a:pPr>
            <a:r>
              <a:rPr lang="en-IN"/>
              <a:t>July 2026 Units Sold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spc="100" baseline="0">
              <a:solidFill>
                <a:schemeClr val="lt1">
                  <a:lumMod val="95000"/>
                </a:schemeClr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Gadugi" panose="020B0502040204020203" pitchFamily="34" charset="0"/>
              <a:ea typeface="Gadugi" panose="020B0502040204020203" pitchFamily="34" charset="0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Units Sold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gradFill rotWithShape="1">
                <a:gsLst>
                  <a:gs pos="0">
                    <a:schemeClr val="accent1">
                      <a:tint val="100000"/>
                      <a:shade val="100000"/>
                      <a:satMod val="130000"/>
                    </a:schemeClr>
                  </a:gs>
                  <a:gs pos="100000">
                    <a:schemeClr val="accent1">
                      <a:tint val="50000"/>
                      <a:shade val="100000"/>
                      <a:satMod val="350000"/>
                    </a:schemeClr>
                  </a:gs>
                </a:gsLst>
                <a:lin ang="16200000" scaled="0"/>
              </a:gra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>
                <a:bevelT w="63500" h="25400"/>
              </a:sp3d>
            </c:spPr>
          </c:dPt>
          <c:dPt>
            <c:idx val="1"/>
            <c:invertIfNegative val="1"/>
            <c:bubble3D val="0"/>
            <c:spPr>
              <a:gradFill rotWithShape="1">
                <a:gsLst>
                  <a:gs pos="0">
                    <a:schemeClr val="accent2">
                      <a:tint val="100000"/>
                      <a:shade val="100000"/>
                      <a:satMod val="130000"/>
                    </a:schemeClr>
                  </a:gs>
                  <a:gs pos="100000">
                    <a:schemeClr val="accent2">
                      <a:tint val="50000"/>
                      <a:shade val="100000"/>
                      <a:satMod val="350000"/>
                    </a:schemeClr>
                  </a:gs>
                </a:gsLst>
                <a:lin ang="16200000" scaled="0"/>
              </a:gra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>
                <a:bevelT w="63500" h="25400"/>
              </a:sp3d>
            </c:spPr>
          </c:dPt>
          <c:dPt>
            <c:idx val="2"/>
            <c:invertIfNegative val="1"/>
            <c:bubble3D val="0"/>
            <c:spPr>
              <a:gradFill rotWithShape="1">
                <a:gsLst>
                  <a:gs pos="0">
                    <a:schemeClr val="accent3">
                      <a:tint val="100000"/>
                      <a:shade val="100000"/>
                      <a:satMod val="130000"/>
                    </a:schemeClr>
                  </a:gs>
                  <a:gs pos="100000">
                    <a:schemeClr val="accent3">
                      <a:tint val="50000"/>
                      <a:shade val="100000"/>
                      <a:satMod val="350000"/>
                    </a:schemeClr>
                  </a:gs>
                </a:gsLst>
                <a:lin ang="16200000" scaled="0"/>
              </a:gra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>
                <a:bevelT w="63500" h="25400"/>
              </a:sp3d>
            </c:spPr>
          </c:dPt>
          <c:dPt>
            <c:idx val="3"/>
            <c:invertIfNegative val="1"/>
            <c:bubble3D val="0"/>
            <c:spPr>
              <a:gradFill rotWithShape="1">
                <a:gsLst>
                  <a:gs pos="0">
                    <a:schemeClr val="accent4">
                      <a:tint val="100000"/>
                      <a:shade val="100000"/>
                      <a:satMod val="130000"/>
                    </a:schemeClr>
                  </a:gs>
                  <a:gs pos="100000">
                    <a:schemeClr val="accent4">
                      <a:tint val="50000"/>
                      <a:shade val="100000"/>
                      <a:satMod val="350000"/>
                    </a:schemeClr>
                  </a:gs>
                </a:gsLst>
                <a:lin ang="16200000" scaled="0"/>
              </a:gra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>
                <a:bevelT w="63500" h="25400"/>
              </a:sp3d>
            </c:spPr>
          </c:dPt>
          <c:cat>
            <c:strRef>
              <c:f>Sheet1!$A$2:$A$5</c:f>
              <c:strCache>
                <c:ptCount val="4"/>
                <c:pt idx="0">
                  <c:v>Tata Motors</c:v>
                </c:pt>
                <c:pt idx="1">
                  <c:v>Ashok Leyland</c:v>
                </c:pt>
                <c:pt idx="2">
                  <c:v>Eicher</c:v>
                </c:pt>
                <c:pt idx="3">
                  <c:v>BharatBenz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39641</c:v>
                </c:pt>
                <c:pt idx="1">
                  <c:v>19590</c:v>
                </c:pt>
                <c:pt idx="2">
                  <c:v>8241</c:v>
                </c:pt>
                <c:pt idx="3">
                  <c:v>1667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964-47A6-8354-AB33BE43CB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15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noFill/>
          <a:ln w="12700" cap="flat" cmpd="sng" algn="ctr">
            <a:solidFill>
              <a:schemeClr val="lt1">
                <a:lumMod val="95000"/>
                <a:alpha val="54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lt1">
                    <a:lumMod val="85000"/>
                  </a:schemeClr>
                </a:solidFill>
                <a:latin typeface="Gadugi" panose="020B0502040204020203" pitchFamily="34" charset="0"/>
                <a:ea typeface="Gadugi" panose="020B0502040204020203" pitchFamily="34" charset="0"/>
                <a:cs typeface="+mn-cs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lt1">
                  <a:lumMod val="95000"/>
                  <a:alpha val="10000"/>
                </a:schemeClr>
              </a:solidFill>
              <a:round/>
            </a:ln>
            <a:effectLst/>
          </c:spPr>
        </c:majorGridlines>
        <c:numFmt formatCode="#,##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lt1">
                    <a:lumMod val="85000"/>
                  </a:schemeClr>
                </a:solidFill>
                <a:latin typeface="Gadugi" panose="020B0502040204020203" pitchFamily="34" charset="0"/>
                <a:ea typeface="Gadugi" panose="020B0502040204020203" pitchFamily="34" charset="0"/>
                <a:cs typeface="+mn-cs"/>
              </a:defRPr>
            </a:pPr>
            <a:endParaRPr lang="en-US"/>
          </a:p>
        </c:txPr>
        <c:crossAx val="-206802733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1"/>
  </c:chart>
  <c:spPr>
    <a:gradFill flip="none" rotWithShape="1">
      <a:gsLst>
        <a:gs pos="0">
          <a:schemeClr val="dk1">
            <a:lumMod val="65000"/>
            <a:lumOff val="35000"/>
          </a:schemeClr>
        </a:gs>
        <a:gs pos="100000">
          <a:schemeClr val="dk1">
            <a:lumMod val="85000"/>
            <a:lumOff val="15000"/>
          </a:schemeClr>
        </a:gs>
      </a:gsLst>
      <a:path path="circle">
        <a:fillToRect l="50000" t="50000" r="50000" b="50000"/>
      </a:path>
      <a:tileRect/>
    </a:gradFill>
    <a:ln>
      <a:noFill/>
    </a:ln>
    <a:effectLst/>
  </c:spPr>
  <c:txPr>
    <a:bodyPr/>
    <a:lstStyle/>
    <a:p>
      <a:pPr>
        <a:defRPr b="1">
          <a:latin typeface="Gadugi" panose="020B0502040204020203" pitchFamily="34" charset="0"/>
          <a:ea typeface="Gadugi" panose="020B0502040204020203" pitchFamily="34" charset="0"/>
        </a:defRPr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spc="100" baseline="0">
                <a:solidFill>
                  <a:schemeClr val="lt1">
                    <a:lumMod val="9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adugi" panose="020B0502040204020203" pitchFamily="34" charset="0"/>
                <a:ea typeface="Gadugi" panose="020B0502040204020203" pitchFamily="34" charset="0"/>
                <a:cs typeface="+mn-cs"/>
              </a:defRPr>
            </a:pPr>
            <a:r>
              <a:rPr lang="en-IN"/>
              <a:t>Average Selling Price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spc="100" baseline="0">
              <a:solidFill>
                <a:schemeClr val="lt1">
                  <a:lumMod val="95000"/>
                </a:schemeClr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Gadugi" panose="020B0502040204020203" pitchFamily="34" charset="0"/>
              <a:ea typeface="Gadugi" panose="020B0502040204020203" pitchFamily="34" charset="0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ASP (₹ Lakh / Unit)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gradFill rotWithShape="1">
                <a:gsLst>
                  <a:gs pos="0">
                    <a:schemeClr val="accent1">
                      <a:tint val="100000"/>
                      <a:shade val="100000"/>
                      <a:satMod val="130000"/>
                    </a:schemeClr>
                  </a:gs>
                  <a:gs pos="100000">
                    <a:schemeClr val="accent1">
                      <a:tint val="50000"/>
                      <a:shade val="100000"/>
                      <a:satMod val="350000"/>
                    </a:schemeClr>
                  </a:gs>
                </a:gsLst>
                <a:lin ang="16200000" scaled="0"/>
              </a:gra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>
                <a:bevelT w="63500" h="25400"/>
              </a:sp3d>
            </c:spPr>
          </c:dPt>
          <c:dPt>
            <c:idx val="1"/>
            <c:invertIfNegative val="1"/>
            <c:bubble3D val="0"/>
            <c:spPr>
              <a:gradFill rotWithShape="1">
                <a:gsLst>
                  <a:gs pos="0">
                    <a:schemeClr val="accent2">
                      <a:tint val="100000"/>
                      <a:shade val="100000"/>
                      <a:satMod val="130000"/>
                    </a:schemeClr>
                  </a:gs>
                  <a:gs pos="100000">
                    <a:schemeClr val="accent2">
                      <a:tint val="50000"/>
                      <a:shade val="100000"/>
                      <a:satMod val="350000"/>
                    </a:schemeClr>
                  </a:gs>
                </a:gsLst>
                <a:lin ang="16200000" scaled="0"/>
              </a:gra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>
                <a:bevelT w="63500" h="25400"/>
              </a:sp3d>
            </c:spPr>
          </c:dPt>
          <c:dPt>
            <c:idx val="2"/>
            <c:invertIfNegative val="1"/>
            <c:bubble3D val="0"/>
            <c:spPr>
              <a:gradFill rotWithShape="1">
                <a:gsLst>
                  <a:gs pos="0">
                    <a:schemeClr val="accent3">
                      <a:tint val="100000"/>
                      <a:shade val="100000"/>
                      <a:satMod val="130000"/>
                    </a:schemeClr>
                  </a:gs>
                  <a:gs pos="100000">
                    <a:schemeClr val="accent3">
                      <a:tint val="50000"/>
                      <a:shade val="100000"/>
                      <a:satMod val="350000"/>
                    </a:schemeClr>
                  </a:gs>
                </a:gsLst>
                <a:lin ang="16200000" scaled="0"/>
              </a:gra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>
                <a:bevelT w="63500" h="25400"/>
              </a:sp3d>
            </c:spPr>
          </c:dPt>
          <c:dPt>
            <c:idx val="3"/>
            <c:invertIfNegative val="1"/>
            <c:bubble3D val="0"/>
            <c:spPr>
              <a:gradFill rotWithShape="1">
                <a:gsLst>
                  <a:gs pos="0">
                    <a:schemeClr val="accent4">
                      <a:tint val="100000"/>
                      <a:shade val="100000"/>
                      <a:satMod val="130000"/>
                    </a:schemeClr>
                  </a:gs>
                  <a:gs pos="100000">
                    <a:schemeClr val="accent4">
                      <a:tint val="50000"/>
                      <a:shade val="100000"/>
                      <a:satMod val="350000"/>
                    </a:schemeClr>
                  </a:gs>
                </a:gsLst>
                <a:lin ang="16200000" scaled="0"/>
              </a:gra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>
                <a:bevelT w="63500" h="25400"/>
              </a:sp3d>
            </c:spPr>
          </c:dPt>
          <c:cat>
            <c:strRef>
              <c:f>Sheet1!$A$2:$A$5</c:f>
              <c:strCache>
                <c:ptCount val="4"/>
                <c:pt idx="0">
                  <c:v>Tata Motors</c:v>
                </c:pt>
                <c:pt idx="1">
                  <c:v>Ashok Leyland</c:v>
                </c:pt>
                <c:pt idx="2">
                  <c:v>Eicher</c:v>
                </c:pt>
                <c:pt idx="3">
                  <c:v>BharatBenz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18.5</c:v>
                </c:pt>
                <c:pt idx="1">
                  <c:v>21</c:v>
                </c:pt>
                <c:pt idx="2">
                  <c:v>16.2</c:v>
                </c:pt>
                <c:pt idx="3">
                  <c:v>28.5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58D-4AF4-9E27-BFB8077EE92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12700" cap="flat" cmpd="sng" algn="ctr">
            <a:solidFill>
              <a:schemeClr val="lt1">
                <a:lumMod val="95000"/>
                <a:alpha val="54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lt1">
                    <a:lumMod val="85000"/>
                  </a:schemeClr>
                </a:solidFill>
                <a:latin typeface="Gadugi" panose="020B0502040204020203" pitchFamily="34" charset="0"/>
                <a:ea typeface="Gadugi" panose="020B0502040204020203" pitchFamily="34" charset="0"/>
                <a:cs typeface="+mn-cs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5000"/>
                  <a:alpha val="10000"/>
                </a:schemeClr>
              </a:solidFill>
              <a:round/>
            </a:ln>
            <a:effectLst/>
          </c:spPr>
        </c:majorGridlines>
        <c:numFmt formatCode="0.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lt1">
                    <a:lumMod val="85000"/>
                  </a:schemeClr>
                </a:solidFill>
                <a:latin typeface="Gadugi" panose="020B0502040204020203" pitchFamily="34" charset="0"/>
                <a:ea typeface="Gadugi" panose="020B0502040204020203" pitchFamily="34" charset="0"/>
                <a:cs typeface="+mn-cs"/>
              </a:defRPr>
            </a:pPr>
            <a:endParaRPr lang="en-US"/>
          </a:p>
        </c:txPr>
        <c:crossAx val="-206802733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1"/>
  </c:chart>
  <c:spPr>
    <a:gradFill flip="none" rotWithShape="1">
      <a:gsLst>
        <a:gs pos="0">
          <a:schemeClr val="dk1">
            <a:lumMod val="65000"/>
            <a:lumOff val="35000"/>
          </a:schemeClr>
        </a:gs>
        <a:gs pos="100000">
          <a:schemeClr val="dk1">
            <a:lumMod val="85000"/>
            <a:lumOff val="15000"/>
          </a:schemeClr>
        </a:gs>
      </a:gsLst>
      <a:path path="circle">
        <a:fillToRect l="50000" t="50000" r="50000" b="50000"/>
      </a:path>
      <a:tileRect/>
    </a:gradFill>
    <a:ln>
      <a:noFill/>
    </a:ln>
    <a:effectLst/>
  </c:spPr>
  <c:txPr>
    <a:bodyPr/>
    <a:lstStyle/>
    <a:p>
      <a:pPr>
        <a:defRPr>
          <a:latin typeface="Gadugi" panose="020B0502040204020203" pitchFamily="34" charset="0"/>
          <a:ea typeface="Gadugi" panose="020B0502040204020203" pitchFamily="34" charset="0"/>
        </a:defRPr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spc="100" baseline="0">
                <a:solidFill>
                  <a:schemeClr val="lt1">
                    <a:lumMod val="9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adugi" panose="020B0502040204020203" pitchFamily="34" charset="0"/>
                <a:ea typeface="Gadugi" panose="020B0502040204020203" pitchFamily="34" charset="0"/>
                <a:cs typeface="+mn-cs"/>
              </a:defRPr>
            </a:pPr>
            <a:r>
              <a:rPr lang="en-IN"/>
              <a:t>YoY Revenue Growth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spc="100" baseline="0">
              <a:solidFill>
                <a:schemeClr val="lt1">
                  <a:lumMod val="95000"/>
                </a:schemeClr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Gadugi" panose="020B0502040204020203" pitchFamily="34" charset="0"/>
              <a:ea typeface="Gadugi" panose="020B0502040204020203" pitchFamily="34" charset="0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YoY Revenue Growth (%)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gradFill rotWithShape="1">
                <a:gsLst>
                  <a:gs pos="0">
                    <a:schemeClr val="accent1">
                      <a:tint val="100000"/>
                      <a:shade val="100000"/>
                      <a:satMod val="130000"/>
                    </a:schemeClr>
                  </a:gs>
                  <a:gs pos="100000">
                    <a:schemeClr val="accent1">
                      <a:tint val="50000"/>
                      <a:shade val="100000"/>
                      <a:satMod val="350000"/>
                    </a:schemeClr>
                  </a:gs>
                </a:gsLst>
                <a:lin ang="16200000" scaled="0"/>
              </a:gra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>
                <a:bevelT w="63500" h="25400"/>
              </a:sp3d>
            </c:spPr>
          </c:dPt>
          <c:dPt>
            <c:idx val="1"/>
            <c:invertIfNegative val="1"/>
            <c:bubble3D val="0"/>
            <c:spPr>
              <a:gradFill rotWithShape="1">
                <a:gsLst>
                  <a:gs pos="0">
                    <a:schemeClr val="accent2">
                      <a:tint val="100000"/>
                      <a:shade val="100000"/>
                      <a:satMod val="130000"/>
                    </a:schemeClr>
                  </a:gs>
                  <a:gs pos="100000">
                    <a:schemeClr val="accent2">
                      <a:tint val="50000"/>
                      <a:shade val="100000"/>
                      <a:satMod val="350000"/>
                    </a:schemeClr>
                  </a:gs>
                </a:gsLst>
                <a:lin ang="16200000" scaled="0"/>
              </a:gra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>
                <a:bevelT w="63500" h="25400"/>
              </a:sp3d>
            </c:spPr>
          </c:dPt>
          <c:dPt>
            <c:idx val="2"/>
            <c:invertIfNegative val="1"/>
            <c:bubble3D val="0"/>
            <c:spPr>
              <a:gradFill rotWithShape="1">
                <a:gsLst>
                  <a:gs pos="0">
                    <a:schemeClr val="accent3">
                      <a:tint val="100000"/>
                      <a:shade val="100000"/>
                      <a:satMod val="130000"/>
                    </a:schemeClr>
                  </a:gs>
                  <a:gs pos="100000">
                    <a:schemeClr val="accent3">
                      <a:tint val="50000"/>
                      <a:shade val="100000"/>
                      <a:satMod val="350000"/>
                    </a:schemeClr>
                  </a:gs>
                </a:gsLst>
                <a:lin ang="16200000" scaled="0"/>
              </a:gra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>
                <a:bevelT w="63500" h="25400"/>
              </a:sp3d>
            </c:spPr>
          </c:dPt>
          <c:dPt>
            <c:idx val="3"/>
            <c:invertIfNegative val="1"/>
            <c:bubble3D val="0"/>
            <c:spPr>
              <a:gradFill rotWithShape="1">
                <a:gsLst>
                  <a:gs pos="0">
                    <a:schemeClr val="accent4">
                      <a:tint val="100000"/>
                      <a:shade val="100000"/>
                      <a:satMod val="130000"/>
                    </a:schemeClr>
                  </a:gs>
                  <a:gs pos="100000">
                    <a:schemeClr val="accent4">
                      <a:tint val="50000"/>
                      <a:shade val="100000"/>
                      <a:satMod val="350000"/>
                    </a:schemeClr>
                  </a:gs>
                </a:gsLst>
                <a:lin ang="16200000" scaled="0"/>
              </a:gra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>
                <a:bevelT w="63500" h="25400"/>
              </a:sp3d>
            </c:spPr>
          </c:dPt>
          <c:cat>
            <c:strRef>
              <c:f>Sheet1!$A$2:$A$5</c:f>
              <c:strCache>
                <c:ptCount val="4"/>
                <c:pt idx="0">
                  <c:v>Tata Motors</c:v>
                </c:pt>
                <c:pt idx="1">
                  <c:v>Ashok Leyland</c:v>
                </c:pt>
                <c:pt idx="2">
                  <c:v>Eicher</c:v>
                </c:pt>
                <c:pt idx="3">
                  <c:v>BharatBenz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36.9</c:v>
                </c:pt>
                <c:pt idx="1">
                  <c:v>30</c:v>
                </c:pt>
                <c:pt idx="2">
                  <c:v>15.8</c:v>
                </c:pt>
                <c:pt idx="3">
                  <c:v>14.2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284-4054-BE83-746D2763133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12700" cap="flat" cmpd="sng" algn="ctr">
            <a:solidFill>
              <a:schemeClr val="lt1">
                <a:lumMod val="95000"/>
                <a:alpha val="54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lt1">
                    <a:lumMod val="85000"/>
                  </a:schemeClr>
                </a:solidFill>
                <a:latin typeface="Gadugi" panose="020B0502040204020203" pitchFamily="34" charset="0"/>
                <a:ea typeface="Gadugi" panose="020B0502040204020203" pitchFamily="34" charset="0"/>
                <a:cs typeface="+mn-cs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5000"/>
                  <a:alpha val="10000"/>
                </a:schemeClr>
              </a:solidFill>
              <a:round/>
            </a:ln>
            <a:effectLst/>
          </c:spPr>
        </c:majorGridlines>
        <c:numFmt formatCode="0.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lt1">
                    <a:lumMod val="85000"/>
                  </a:schemeClr>
                </a:solidFill>
                <a:latin typeface="Gadugi" panose="020B0502040204020203" pitchFamily="34" charset="0"/>
                <a:ea typeface="Gadugi" panose="020B0502040204020203" pitchFamily="34" charset="0"/>
                <a:cs typeface="+mn-cs"/>
              </a:defRPr>
            </a:pPr>
            <a:endParaRPr lang="en-US"/>
          </a:p>
        </c:txPr>
        <c:crossAx val="-206802733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1"/>
  </c:chart>
  <c:spPr>
    <a:gradFill flip="none" rotWithShape="1">
      <a:gsLst>
        <a:gs pos="0">
          <a:schemeClr val="dk1">
            <a:lumMod val="65000"/>
            <a:lumOff val="35000"/>
          </a:schemeClr>
        </a:gs>
        <a:gs pos="100000">
          <a:schemeClr val="dk1">
            <a:lumMod val="85000"/>
            <a:lumOff val="15000"/>
          </a:schemeClr>
        </a:gs>
      </a:gsLst>
      <a:path path="circle">
        <a:fillToRect l="50000" t="50000" r="50000" b="50000"/>
      </a:path>
      <a:tileRect/>
    </a:gradFill>
    <a:ln>
      <a:noFill/>
    </a:ln>
    <a:effectLst/>
  </c:spPr>
  <c:txPr>
    <a:bodyPr/>
    <a:lstStyle/>
    <a:p>
      <a:pPr>
        <a:defRPr b="1">
          <a:latin typeface="Gadugi" panose="020B0502040204020203" pitchFamily="34" charset="0"/>
          <a:ea typeface="Gadugi" panose="020B0502040204020203" pitchFamily="34" charset="0"/>
        </a:defRPr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spc="100" baseline="0">
                <a:solidFill>
                  <a:schemeClr val="lt1">
                    <a:lumMod val="9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adugi" panose="020B0502040204020203" pitchFamily="34" charset="0"/>
                <a:ea typeface="Gadugi" panose="020B0502040204020203" pitchFamily="34" charset="0"/>
                <a:cs typeface="+mn-cs"/>
              </a:defRPr>
            </a:pPr>
            <a:r>
              <a:rPr lang="en-IN"/>
              <a:t>Revenue Comparison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spc="100" baseline="0">
              <a:solidFill>
                <a:schemeClr val="lt1">
                  <a:lumMod val="95000"/>
                </a:schemeClr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Gadugi" panose="020B0502040204020203" pitchFamily="34" charset="0"/>
              <a:ea typeface="Gadugi" panose="020B0502040204020203" pitchFamily="34" charset="0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Jul 2025 implied Revenue (₹ Cr)</c:v>
                </c:pt>
              </c:strCache>
            </c:strRef>
          </c:tx>
          <c:spPr>
            <a:gradFill rotWithShape="1">
              <a:gsLst>
                <a:gs pos="0">
                  <a:schemeClr val="accent1">
                    <a:tint val="100000"/>
                    <a:shade val="100000"/>
                    <a:satMod val="130000"/>
                  </a:schemeClr>
                </a:gs>
                <a:gs pos="100000">
                  <a:schemeClr val="accent1">
                    <a:tint val="50000"/>
                    <a:shade val="100000"/>
                    <a:satMod val="350000"/>
                  </a:schemeClr>
                </a:gs>
              </a:gsLst>
              <a:lin ang="16200000" scaled="0"/>
            </a:gra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200000"/>
              </a:lightRig>
            </a:scene3d>
            <a:sp3d>
              <a:bevelT w="63500" h="25400"/>
            </a:sp3d>
          </c:spPr>
          <c:invertIfNegative val="1"/>
          <c:cat>
            <c:strRef>
              <c:f>Sheet1!$A$2:$A$5</c:f>
              <c:strCache>
                <c:ptCount val="4"/>
                <c:pt idx="0">
                  <c:v>Tata Motors</c:v>
                </c:pt>
                <c:pt idx="1">
                  <c:v>Ashok Leyland</c:v>
                </c:pt>
                <c:pt idx="2">
                  <c:v>Eicher</c:v>
                </c:pt>
                <c:pt idx="3">
                  <c:v>BharatBenz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5356.895544192842</c:v>
                </c:pt>
                <c:pt idx="1">
                  <c:v>3164.538461538461</c:v>
                </c:pt>
                <c:pt idx="2">
                  <c:v>1152.8842832469777</c:v>
                </c:pt>
                <c:pt idx="3">
                  <c:v>416.02451838879165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D1B-4CD4-9A8F-F08584A7FEB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Jul 2026 Revenue (₹ Cr)</c:v>
                </c:pt>
              </c:strCache>
            </c:strRef>
          </c:tx>
          <c:spPr>
            <a:gradFill rotWithShape="1">
              <a:gsLst>
                <a:gs pos="0">
                  <a:schemeClr val="accent2">
                    <a:tint val="100000"/>
                    <a:shade val="100000"/>
                    <a:satMod val="130000"/>
                  </a:schemeClr>
                </a:gs>
                <a:gs pos="100000">
                  <a:schemeClr val="accent2">
                    <a:tint val="50000"/>
                    <a:shade val="100000"/>
                    <a:satMod val="350000"/>
                  </a:schemeClr>
                </a:gs>
              </a:gsLst>
              <a:lin ang="16200000" scaled="0"/>
            </a:gra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200000"/>
              </a:lightRig>
            </a:scene3d>
            <a:sp3d>
              <a:bevelT w="63500" h="25400"/>
            </a:sp3d>
          </c:spPr>
          <c:invertIfNegative val="1"/>
          <c:cat>
            <c:strRef>
              <c:f>Sheet1!$A$2:$A$5</c:f>
              <c:strCache>
                <c:ptCount val="4"/>
                <c:pt idx="0">
                  <c:v>Tata Motors</c:v>
                </c:pt>
                <c:pt idx="1">
                  <c:v>Ashok Leyland</c:v>
                </c:pt>
                <c:pt idx="2">
                  <c:v>Eicher</c:v>
                </c:pt>
                <c:pt idx="3">
                  <c:v>BharatBenz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7333.59</c:v>
                </c:pt>
                <c:pt idx="1">
                  <c:v>4113.8999999999996</c:v>
                </c:pt>
                <c:pt idx="2">
                  <c:v>1335.04</c:v>
                </c:pt>
                <c:pt idx="3">
                  <c:v>475.1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D1B-4CD4-9A8F-F08584A7FEB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12700" cap="flat" cmpd="sng" algn="ctr">
            <a:solidFill>
              <a:schemeClr val="lt1">
                <a:lumMod val="95000"/>
                <a:alpha val="54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lt1">
                    <a:lumMod val="85000"/>
                  </a:schemeClr>
                </a:solidFill>
                <a:latin typeface="Gadugi" panose="020B0502040204020203" pitchFamily="34" charset="0"/>
                <a:ea typeface="Gadugi" panose="020B0502040204020203" pitchFamily="34" charset="0"/>
                <a:cs typeface="+mn-cs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5000"/>
                  <a:alpha val="10000"/>
                </a:schemeClr>
              </a:solidFill>
              <a:round/>
            </a:ln>
            <a:effectLst/>
          </c:spPr>
        </c:majorGridlines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lt1">
                    <a:lumMod val="85000"/>
                  </a:schemeClr>
                </a:solidFill>
                <a:latin typeface="Gadugi" panose="020B0502040204020203" pitchFamily="34" charset="0"/>
                <a:ea typeface="Gadugi" panose="020B0502040204020203" pitchFamily="34" charset="0"/>
                <a:cs typeface="+mn-cs"/>
              </a:defRPr>
            </a:pPr>
            <a:endParaRPr lang="en-US"/>
          </a:p>
        </c:txPr>
        <c:crossAx val="-206802733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1" i="0" u="none" strike="noStrike" kern="1200" baseline="0">
              <a:solidFill>
                <a:schemeClr val="lt1">
                  <a:lumMod val="85000"/>
                </a:schemeClr>
              </a:solidFill>
              <a:latin typeface="Gadugi" panose="020B0502040204020203" pitchFamily="34" charset="0"/>
              <a:ea typeface="Gadugi" panose="020B0502040204020203" pitchFamily="34" charset="0"/>
              <a:cs typeface="+mn-cs"/>
            </a:defRPr>
          </a:pPr>
          <a:endParaRPr lang="en-US"/>
        </a:p>
      </c:txPr>
    </c:legend>
    <c:plotVisOnly val="1"/>
    <c:dispBlanksAs val="gap"/>
    <c:showDLblsOverMax val="1"/>
  </c:chart>
  <c:spPr>
    <a:gradFill flip="none" rotWithShape="1">
      <a:gsLst>
        <a:gs pos="0">
          <a:schemeClr val="dk1">
            <a:lumMod val="65000"/>
            <a:lumOff val="35000"/>
          </a:schemeClr>
        </a:gs>
        <a:gs pos="100000">
          <a:schemeClr val="dk1">
            <a:lumMod val="85000"/>
            <a:lumOff val="15000"/>
          </a:schemeClr>
        </a:gs>
      </a:gsLst>
      <a:path path="circle">
        <a:fillToRect l="50000" t="50000" r="50000" b="50000"/>
      </a:path>
      <a:tileRect/>
    </a:gradFill>
    <a:ln>
      <a:noFill/>
    </a:ln>
    <a:effectLst/>
  </c:spPr>
  <c:txPr>
    <a:bodyPr/>
    <a:lstStyle/>
    <a:p>
      <a:pPr>
        <a:defRPr b="1">
          <a:latin typeface="Gadugi" panose="020B0502040204020203" pitchFamily="34" charset="0"/>
          <a:ea typeface="Gadugi" panose="020B0502040204020203" pitchFamily="34" charset="0"/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9">
  <cs:axisTitle>
    <cs:lnRef idx="0"/>
    <cs:fillRef idx="0"/>
    <cs:effectRef idx="0"/>
    <cs:fontRef idx="minor">
      <a:schemeClr val="lt1">
        <a:lumMod val="85000"/>
      </a:schemeClr>
    </cs:fontRef>
    <cs:defRPr sz="1197" b="1" kern="1200" cap="all"/>
  </cs:axisTitle>
  <cs:category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1197" kern="120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dk1">
              <a:lumMod val="65000"/>
              <a:lumOff val="35000"/>
            </a:schemeClr>
          </a:gs>
          <a:gs pos="100000">
            <a:schemeClr val="dk1">
              <a:lumMod val="85000"/>
              <a:lumOff val="15000"/>
            </a:schemeClr>
          </a:gs>
        </a:gsLst>
        <a:path path="circle">
          <a:fillToRect l="50000" t="50000" r="50000" b="50000"/>
        </a:path>
        <a:tileRect/>
      </a:gradFill>
    </cs:spPr>
    <cs:defRPr sz="1330" kern="1200"/>
  </cs:chartArea>
  <cs:dataLabel>
    <cs:lnRef idx="0"/>
    <cs:fillRef idx="0"/>
    <cs:effectRef idx="0"/>
    <cs:fontRef idx="minor">
      <a:schemeClr val="lt1">
        <a:lumMod val="8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lt1">
        <a:lumMod val="85000"/>
      </a:schemeClr>
    </cs:fontRef>
    <cs:spPr>
      <a:ln w="9525">
        <a:solidFill>
          <a:schemeClr val="lt1">
            <a:lumMod val="95000"/>
            <a:alpha val="54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lt1"/>
    </cs:fontRef>
    <cs:spPr>
      <a:solidFill>
        <a:schemeClr val="dk1">
          <a:lumMod val="75000"/>
          <a:lumOff val="25000"/>
        </a:schemeClr>
      </a:solidFill>
      <a:ln w="9525">
        <a:solidFill>
          <a:schemeClr val="lt1">
            <a:lumMod val="95000"/>
            <a:alpha val="54000"/>
          </a:schemeClr>
        </a:solidFill>
      </a:ln>
    </cs:spPr>
  </cs:downBar>
  <cs:drop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</cs:gridlineMajor>
  <cs:gridlineMinor>
    <cs:lnRef idx="0"/>
    <cs:fillRef idx="0"/>
    <cs:effectRef idx="0"/>
    <cs:fontRef idx="minor">
      <a:schemeClr val="lt1"/>
    </cs:fontRef>
    <cs:spPr>
      <a:ln>
        <a:solidFill>
          <a:schemeClr val="lt1">
            <a:lumMod val="95000"/>
            <a:alpha val="5000"/>
          </a:schemeClr>
        </a:solidFill>
      </a:ln>
    </cs:spPr>
  </cs:gridlineMinor>
  <cs:hiLo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</a:ln>
    </cs:spPr>
  </cs:leaderLine>
  <cs:legend>
    <cs:lnRef idx="0"/>
    <cs:fillRef idx="0"/>
    <cs:effectRef idx="0"/>
    <cs:fontRef idx="minor">
      <a:schemeClr val="lt1">
        <a:lumMod val="8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54000"/>
          </a:schemeClr>
        </a:solidFill>
        <a:round/>
      </a:ln>
    </cs:spPr>
  </cs:seriesLine>
  <cs:title>
    <cs:lnRef idx="0"/>
    <cs:fillRef idx="0"/>
    <cs:effectRef idx="0"/>
    <cs:fontRef idx="minor">
      <a:schemeClr val="lt1">
        <a:lumMod val="95000"/>
      </a:schemeClr>
    </cs:fontRef>
    <cs:defRPr sz="2128" b="1" kern="1200" spc="100" baseline="0">
      <a:effectLst>
        <a:outerShdw blurRad="50800" dist="38100" dir="5400000" algn="t" rotWithShape="0">
          <a:prstClr val="black">
            <a:alpha val="40000"/>
          </a:prstClr>
        </a:outerShdw>
      </a:effectLst>
    </cs:defRPr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lt1">
        <a:lumMod val="85000"/>
      </a:schemeClr>
    </cs:fontRef>
    <cs:defRPr sz="1197" kern="1200"/>
  </cs:trendlineLabel>
  <cs:upBar>
    <cs:lnRef idx="0"/>
    <cs:fillRef idx="0"/>
    <cs:effectRef idx="0"/>
    <cs:fontRef idx="minor">
      <a:schemeClr val="lt1"/>
    </cs:fontRef>
    <cs:spPr>
      <a:solidFill>
        <a:schemeClr val="lt1"/>
      </a:solidFill>
      <a:ln w="9525">
        <a:solidFill>
          <a:schemeClr val="lt1">
            <a:lumMod val="95000"/>
            <a:alpha val="54000"/>
          </a:schemeClr>
        </a:solidFill>
      </a:ln>
    </cs:spPr>
  </cs:upBar>
  <cs:valueAxis>
    <cs:lnRef idx="0"/>
    <cs:fillRef idx="0"/>
    <cs:effectRef idx="0"/>
    <cs:fontRef idx="minor">
      <a:schemeClr val="lt1">
        <a:lumMod val="8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209">
  <cs:axisTitle>
    <cs:lnRef idx="0"/>
    <cs:fillRef idx="0"/>
    <cs:effectRef idx="0"/>
    <cs:fontRef idx="minor">
      <a:schemeClr val="lt1">
        <a:lumMod val="85000"/>
      </a:schemeClr>
    </cs:fontRef>
    <cs:defRPr sz="1197" b="1" kern="1200" cap="all"/>
  </cs:axisTitle>
  <cs:category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1197" kern="120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dk1">
              <a:lumMod val="65000"/>
              <a:lumOff val="35000"/>
            </a:schemeClr>
          </a:gs>
          <a:gs pos="100000">
            <a:schemeClr val="dk1">
              <a:lumMod val="85000"/>
              <a:lumOff val="15000"/>
            </a:schemeClr>
          </a:gs>
        </a:gsLst>
        <a:path path="circle">
          <a:fillToRect l="50000" t="50000" r="50000" b="50000"/>
        </a:path>
        <a:tileRect/>
      </a:gradFill>
    </cs:spPr>
    <cs:defRPr sz="1330" kern="1200"/>
  </cs:chartArea>
  <cs:dataLabel>
    <cs:lnRef idx="0"/>
    <cs:fillRef idx="0"/>
    <cs:effectRef idx="0"/>
    <cs:fontRef idx="minor">
      <a:schemeClr val="lt1">
        <a:lumMod val="8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lt1">
        <a:lumMod val="85000"/>
      </a:schemeClr>
    </cs:fontRef>
    <cs:spPr>
      <a:ln w="9525">
        <a:solidFill>
          <a:schemeClr val="lt1">
            <a:lumMod val="95000"/>
            <a:alpha val="54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lt1"/>
    </cs:fontRef>
    <cs:spPr>
      <a:solidFill>
        <a:schemeClr val="dk1">
          <a:lumMod val="75000"/>
          <a:lumOff val="25000"/>
        </a:schemeClr>
      </a:solidFill>
      <a:ln w="9525">
        <a:solidFill>
          <a:schemeClr val="lt1">
            <a:lumMod val="95000"/>
            <a:alpha val="54000"/>
          </a:schemeClr>
        </a:solidFill>
      </a:ln>
    </cs:spPr>
  </cs:downBar>
  <cs:drop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</cs:gridlineMajor>
  <cs:gridlineMinor>
    <cs:lnRef idx="0"/>
    <cs:fillRef idx="0"/>
    <cs:effectRef idx="0"/>
    <cs:fontRef idx="minor">
      <a:schemeClr val="lt1"/>
    </cs:fontRef>
    <cs:spPr>
      <a:ln>
        <a:solidFill>
          <a:schemeClr val="lt1">
            <a:lumMod val="95000"/>
            <a:alpha val="5000"/>
          </a:schemeClr>
        </a:solidFill>
      </a:ln>
    </cs:spPr>
  </cs:gridlineMinor>
  <cs:hiLo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</a:ln>
    </cs:spPr>
  </cs:leaderLine>
  <cs:legend>
    <cs:lnRef idx="0"/>
    <cs:fillRef idx="0"/>
    <cs:effectRef idx="0"/>
    <cs:fontRef idx="minor">
      <a:schemeClr val="lt1">
        <a:lumMod val="8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54000"/>
          </a:schemeClr>
        </a:solidFill>
        <a:round/>
      </a:ln>
    </cs:spPr>
  </cs:seriesLine>
  <cs:title>
    <cs:lnRef idx="0"/>
    <cs:fillRef idx="0"/>
    <cs:effectRef idx="0"/>
    <cs:fontRef idx="minor">
      <a:schemeClr val="lt1">
        <a:lumMod val="95000"/>
      </a:schemeClr>
    </cs:fontRef>
    <cs:defRPr sz="2128" b="1" kern="1200" spc="100" baseline="0">
      <a:effectLst>
        <a:outerShdw blurRad="50800" dist="38100" dir="5400000" algn="t" rotWithShape="0">
          <a:prstClr val="black">
            <a:alpha val="40000"/>
          </a:prstClr>
        </a:outerShdw>
      </a:effectLst>
    </cs:defRPr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lt1">
        <a:lumMod val="85000"/>
      </a:schemeClr>
    </cs:fontRef>
    <cs:defRPr sz="1197" kern="1200"/>
  </cs:trendlineLabel>
  <cs:upBar>
    <cs:lnRef idx="0"/>
    <cs:fillRef idx="0"/>
    <cs:effectRef idx="0"/>
    <cs:fontRef idx="minor">
      <a:schemeClr val="lt1"/>
    </cs:fontRef>
    <cs:spPr>
      <a:solidFill>
        <a:schemeClr val="lt1"/>
      </a:solidFill>
      <a:ln w="9525">
        <a:solidFill>
          <a:schemeClr val="lt1">
            <a:lumMod val="95000"/>
            <a:alpha val="54000"/>
          </a:schemeClr>
        </a:solidFill>
      </a:ln>
    </cs:spPr>
  </cs:upBar>
  <cs:valueAxis>
    <cs:lnRef idx="0"/>
    <cs:fillRef idx="0"/>
    <cs:effectRef idx="0"/>
    <cs:fontRef idx="minor">
      <a:schemeClr val="lt1">
        <a:lumMod val="8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209">
  <cs:axisTitle>
    <cs:lnRef idx="0"/>
    <cs:fillRef idx="0"/>
    <cs:effectRef idx="0"/>
    <cs:fontRef idx="minor">
      <a:schemeClr val="lt1">
        <a:lumMod val="85000"/>
      </a:schemeClr>
    </cs:fontRef>
    <cs:defRPr sz="1197" b="1" kern="1200" cap="all"/>
  </cs:axisTitle>
  <cs:category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1197" kern="120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dk1">
              <a:lumMod val="65000"/>
              <a:lumOff val="35000"/>
            </a:schemeClr>
          </a:gs>
          <a:gs pos="100000">
            <a:schemeClr val="dk1">
              <a:lumMod val="85000"/>
              <a:lumOff val="15000"/>
            </a:schemeClr>
          </a:gs>
        </a:gsLst>
        <a:path path="circle">
          <a:fillToRect l="50000" t="50000" r="50000" b="50000"/>
        </a:path>
        <a:tileRect/>
      </a:gradFill>
    </cs:spPr>
    <cs:defRPr sz="1330" kern="1200"/>
  </cs:chartArea>
  <cs:dataLabel>
    <cs:lnRef idx="0"/>
    <cs:fillRef idx="0"/>
    <cs:effectRef idx="0"/>
    <cs:fontRef idx="minor">
      <a:schemeClr val="lt1">
        <a:lumMod val="8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lt1">
        <a:lumMod val="85000"/>
      </a:schemeClr>
    </cs:fontRef>
    <cs:spPr>
      <a:ln w="9525">
        <a:solidFill>
          <a:schemeClr val="lt1">
            <a:lumMod val="95000"/>
            <a:alpha val="54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lt1"/>
    </cs:fontRef>
    <cs:spPr>
      <a:solidFill>
        <a:schemeClr val="dk1">
          <a:lumMod val="75000"/>
          <a:lumOff val="25000"/>
        </a:schemeClr>
      </a:solidFill>
      <a:ln w="9525">
        <a:solidFill>
          <a:schemeClr val="lt1">
            <a:lumMod val="95000"/>
            <a:alpha val="54000"/>
          </a:schemeClr>
        </a:solidFill>
      </a:ln>
    </cs:spPr>
  </cs:downBar>
  <cs:drop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</cs:gridlineMajor>
  <cs:gridlineMinor>
    <cs:lnRef idx="0"/>
    <cs:fillRef idx="0"/>
    <cs:effectRef idx="0"/>
    <cs:fontRef idx="minor">
      <a:schemeClr val="lt1"/>
    </cs:fontRef>
    <cs:spPr>
      <a:ln>
        <a:solidFill>
          <a:schemeClr val="lt1">
            <a:lumMod val="95000"/>
            <a:alpha val="5000"/>
          </a:schemeClr>
        </a:solidFill>
      </a:ln>
    </cs:spPr>
  </cs:gridlineMinor>
  <cs:hiLo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</a:ln>
    </cs:spPr>
  </cs:leaderLine>
  <cs:legend>
    <cs:lnRef idx="0"/>
    <cs:fillRef idx="0"/>
    <cs:effectRef idx="0"/>
    <cs:fontRef idx="minor">
      <a:schemeClr val="lt1">
        <a:lumMod val="8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54000"/>
          </a:schemeClr>
        </a:solidFill>
        <a:round/>
      </a:ln>
    </cs:spPr>
  </cs:seriesLine>
  <cs:title>
    <cs:lnRef idx="0"/>
    <cs:fillRef idx="0"/>
    <cs:effectRef idx="0"/>
    <cs:fontRef idx="minor">
      <a:schemeClr val="lt1">
        <a:lumMod val="95000"/>
      </a:schemeClr>
    </cs:fontRef>
    <cs:defRPr sz="2128" b="1" kern="1200" spc="100" baseline="0">
      <a:effectLst>
        <a:outerShdw blurRad="50800" dist="38100" dir="5400000" algn="t" rotWithShape="0">
          <a:prstClr val="black">
            <a:alpha val="40000"/>
          </a:prstClr>
        </a:outerShdw>
      </a:effectLst>
    </cs:defRPr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lt1">
        <a:lumMod val="85000"/>
      </a:schemeClr>
    </cs:fontRef>
    <cs:defRPr sz="1197" kern="1200"/>
  </cs:trendlineLabel>
  <cs:upBar>
    <cs:lnRef idx="0"/>
    <cs:fillRef idx="0"/>
    <cs:effectRef idx="0"/>
    <cs:fontRef idx="minor">
      <a:schemeClr val="lt1"/>
    </cs:fontRef>
    <cs:spPr>
      <a:solidFill>
        <a:schemeClr val="lt1"/>
      </a:solidFill>
      <a:ln w="9525">
        <a:solidFill>
          <a:schemeClr val="lt1">
            <a:lumMod val="95000"/>
            <a:alpha val="54000"/>
          </a:schemeClr>
        </a:solidFill>
      </a:ln>
    </cs:spPr>
  </cs:upBar>
  <cs:valueAxis>
    <cs:lnRef idx="0"/>
    <cs:fillRef idx="0"/>
    <cs:effectRef idx="0"/>
    <cs:fontRef idx="minor">
      <a:schemeClr val="lt1">
        <a:lumMod val="8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charts/style4.xml><?xml version="1.0" encoding="utf-8"?>
<cs:chartStyle xmlns:cs="http://schemas.microsoft.com/office/drawing/2012/chartStyle" xmlns:a="http://schemas.openxmlformats.org/drawingml/2006/main" id="222">
  <cs:axisTitle>
    <cs:lnRef idx="0"/>
    <cs:fillRef idx="0"/>
    <cs:effectRef idx="0"/>
    <cs:fontRef idx="minor">
      <a:schemeClr val="lt1">
        <a:lumMod val="85000"/>
      </a:schemeClr>
    </cs:fontRef>
    <cs:defRPr sz="1197" b="1" kern="1200" cap="all"/>
  </cs:axisTitle>
  <cs:category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1197" kern="120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dk1">
              <a:lumMod val="65000"/>
              <a:lumOff val="35000"/>
            </a:schemeClr>
          </a:gs>
          <a:gs pos="100000">
            <a:schemeClr val="dk1">
              <a:lumMod val="85000"/>
              <a:lumOff val="15000"/>
            </a:schemeClr>
          </a:gs>
        </a:gsLst>
        <a:path path="circle">
          <a:fillToRect l="50000" t="50000" r="50000" b="50000"/>
        </a:path>
        <a:tileRect/>
      </a:gradFill>
    </cs:spPr>
    <cs:defRPr sz="1330" kern="1200"/>
  </cs:chartArea>
  <cs:dataLabel>
    <cs:lnRef idx="0"/>
    <cs:fillRef idx="0"/>
    <cs:effectRef idx="0"/>
    <cs:fontRef idx="minor">
      <a:schemeClr val="lt1">
        <a:lumMod val="8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ize="5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lt1">
        <a:lumMod val="85000"/>
      </a:schemeClr>
    </cs:fontRef>
    <cs:spPr>
      <a:ln w="9525">
        <a:solidFill>
          <a:schemeClr val="lt1">
            <a:lumMod val="95000"/>
            <a:alpha val="54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>
        <a:solidFill>
          <a:schemeClr val="lt1">
            <a:lumMod val="95000"/>
            <a:alpha val="54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>
        <a:solidFill>
          <a:schemeClr val="lt1">
            <a:lumMod val="95000"/>
            <a:alpha val="5000"/>
          </a:schemeClr>
        </a:solidFill>
      </a:ln>
    </cs:spPr>
  </cs:gridlineMinor>
  <cs:hiLo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</a:ln>
    </cs:spPr>
  </cs:leaderLine>
  <cs:legend>
    <cs:lnRef idx="0"/>
    <cs:fillRef idx="0"/>
    <cs:effectRef idx="0"/>
    <cs:fontRef idx="minor">
      <a:schemeClr val="lt1">
        <a:lumMod val="85000"/>
      </a:schemeClr>
    </cs:fontRef>
    <cs:defRPr sz="1197" kern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54000"/>
          </a:schemeClr>
        </a:solidFill>
        <a:round/>
      </a:ln>
    </cs:spPr>
  </cs:seriesLine>
  <cs:title>
    <cs:lnRef idx="0"/>
    <cs:fillRef idx="0"/>
    <cs:effectRef idx="0"/>
    <cs:fontRef idx="minor">
      <a:schemeClr val="lt1">
        <a:lumMod val="95000"/>
      </a:schemeClr>
    </cs:fontRef>
    <cs:defRPr sz="2128" b="1" kern="1200" spc="100" baseline="0">
      <a:effectLst>
        <a:outerShdw blurRad="50800" dist="38100" dir="5400000" algn="t" rotWithShape="0">
          <a:prstClr val="black">
            <a:alpha val="40000"/>
          </a:prstClr>
        </a:outerShdw>
      </a:effectLst>
    </cs:defRPr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lt1">
        <a:lumMod val="8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>
        <a:solidFill>
          <a:schemeClr val="lt1">
            <a:lumMod val="95000"/>
            <a:alpha val="54000"/>
          </a:schemeClr>
        </a:solidFill>
      </a:ln>
    </cs:spPr>
  </cs:upBar>
  <cs:valueAxis>
    <cs:lnRef idx="0"/>
    <cs:fillRef idx="0"/>
    <cs:effectRef idx="0"/>
    <cs:fontRef idx="minor">
      <a:schemeClr val="lt1">
        <a:lumMod val="85000"/>
      </a:schemeClr>
    </cs:fontRef>
    <cs:defRPr sz="1197" kern="1200"/>
  </cs:valueAxis>
  <cs:wall>
    <cs:lnRef idx="0"/>
    <cs:fillRef idx="0"/>
    <cs:effectRef idx="0"/>
    <cs:fontRef idx="minor">
      <a:schemeClr val="tx1"/>
    </cs:fontRef>
  </cs:wall>
</cs:chartStyle>
</file>

<file path=ppt/charts/style5.xml><?xml version="1.0" encoding="utf-8"?>
<cs:chartStyle xmlns:cs="http://schemas.microsoft.com/office/drawing/2012/chartStyle" xmlns:a="http://schemas.openxmlformats.org/drawingml/2006/main" id="209">
  <cs:axisTitle>
    <cs:lnRef idx="0"/>
    <cs:fillRef idx="0"/>
    <cs:effectRef idx="0"/>
    <cs:fontRef idx="minor">
      <a:schemeClr val="lt1">
        <a:lumMod val="85000"/>
      </a:schemeClr>
    </cs:fontRef>
    <cs:defRPr sz="1197" b="1" kern="1200" cap="all"/>
  </cs:axisTitle>
  <cs:category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1197" kern="120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dk1">
              <a:lumMod val="65000"/>
              <a:lumOff val="35000"/>
            </a:schemeClr>
          </a:gs>
          <a:gs pos="100000">
            <a:schemeClr val="dk1">
              <a:lumMod val="85000"/>
              <a:lumOff val="15000"/>
            </a:schemeClr>
          </a:gs>
        </a:gsLst>
        <a:path path="circle">
          <a:fillToRect l="50000" t="50000" r="50000" b="50000"/>
        </a:path>
        <a:tileRect/>
      </a:gradFill>
    </cs:spPr>
    <cs:defRPr sz="1330" kern="1200"/>
  </cs:chartArea>
  <cs:dataLabel>
    <cs:lnRef idx="0"/>
    <cs:fillRef idx="0"/>
    <cs:effectRef idx="0"/>
    <cs:fontRef idx="minor">
      <a:schemeClr val="lt1">
        <a:lumMod val="8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lt1">
        <a:lumMod val="85000"/>
      </a:schemeClr>
    </cs:fontRef>
    <cs:spPr>
      <a:ln w="9525">
        <a:solidFill>
          <a:schemeClr val="lt1">
            <a:lumMod val="95000"/>
            <a:alpha val="54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lt1"/>
    </cs:fontRef>
    <cs:spPr>
      <a:solidFill>
        <a:schemeClr val="dk1">
          <a:lumMod val="75000"/>
          <a:lumOff val="25000"/>
        </a:schemeClr>
      </a:solidFill>
      <a:ln w="9525">
        <a:solidFill>
          <a:schemeClr val="lt1">
            <a:lumMod val="95000"/>
            <a:alpha val="54000"/>
          </a:schemeClr>
        </a:solidFill>
      </a:ln>
    </cs:spPr>
  </cs:downBar>
  <cs:drop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</cs:gridlineMajor>
  <cs:gridlineMinor>
    <cs:lnRef idx="0"/>
    <cs:fillRef idx="0"/>
    <cs:effectRef idx="0"/>
    <cs:fontRef idx="minor">
      <a:schemeClr val="lt1"/>
    </cs:fontRef>
    <cs:spPr>
      <a:ln>
        <a:solidFill>
          <a:schemeClr val="lt1">
            <a:lumMod val="95000"/>
            <a:alpha val="5000"/>
          </a:schemeClr>
        </a:solidFill>
      </a:ln>
    </cs:spPr>
  </cs:gridlineMinor>
  <cs:hiLo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</a:ln>
    </cs:spPr>
  </cs:leaderLine>
  <cs:legend>
    <cs:lnRef idx="0"/>
    <cs:fillRef idx="0"/>
    <cs:effectRef idx="0"/>
    <cs:fontRef idx="minor">
      <a:schemeClr val="lt1">
        <a:lumMod val="8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54000"/>
          </a:schemeClr>
        </a:solidFill>
        <a:round/>
      </a:ln>
    </cs:spPr>
  </cs:seriesLine>
  <cs:title>
    <cs:lnRef idx="0"/>
    <cs:fillRef idx="0"/>
    <cs:effectRef idx="0"/>
    <cs:fontRef idx="minor">
      <a:schemeClr val="lt1">
        <a:lumMod val="95000"/>
      </a:schemeClr>
    </cs:fontRef>
    <cs:defRPr sz="2128" b="1" kern="1200" spc="100" baseline="0">
      <a:effectLst>
        <a:outerShdw blurRad="50800" dist="38100" dir="5400000" algn="t" rotWithShape="0">
          <a:prstClr val="black">
            <a:alpha val="40000"/>
          </a:prstClr>
        </a:outerShdw>
      </a:effectLst>
    </cs:defRPr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lt1">
        <a:lumMod val="85000"/>
      </a:schemeClr>
    </cs:fontRef>
    <cs:defRPr sz="1197" kern="1200"/>
  </cs:trendlineLabel>
  <cs:upBar>
    <cs:lnRef idx="0"/>
    <cs:fillRef idx="0"/>
    <cs:effectRef idx="0"/>
    <cs:fontRef idx="minor">
      <a:schemeClr val="lt1"/>
    </cs:fontRef>
    <cs:spPr>
      <a:solidFill>
        <a:schemeClr val="lt1"/>
      </a:solidFill>
      <a:ln w="9525">
        <a:solidFill>
          <a:schemeClr val="lt1">
            <a:lumMod val="95000"/>
            <a:alpha val="54000"/>
          </a:schemeClr>
        </a:solidFill>
      </a:ln>
    </cs:spPr>
  </cs:upBar>
  <cs:valueAxis>
    <cs:lnRef idx="0"/>
    <cs:fillRef idx="0"/>
    <cs:effectRef idx="0"/>
    <cs:fontRef idx="minor">
      <a:schemeClr val="lt1">
        <a:lumMod val="8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charts/style6.xml><?xml version="1.0" encoding="utf-8"?>
<cs:chartStyle xmlns:cs="http://schemas.microsoft.com/office/drawing/2012/chartStyle" xmlns:a="http://schemas.openxmlformats.org/drawingml/2006/main" id="209">
  <cs:axisTitle>
    <cs:lnRef idx="0"/>
    <cs:fillRef idx="0"/>
    <cs:effectRef idx="0"/>
    <cs:fontRef idx="minor">
      <a:schemeClr val="lt1">
        <a:lumMod val="85000"/>
      </a:schemeClr>
    </cs:fontRef>
    <cs:defRPr sz="1197" b="1" kern="1200" cap="all"/>
  </cs:axisTitle>
  <cs:category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1197" kern="120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dk1">
              <a:lumMod val="65000"/>
              <a:lumOff val="35000"/>
            </a:schemeClr>
          </a:gs>
          <a:gs pos="100000">
            <a:schemeClr val="dk1">
              <a:lumMod val="85000"/>
              <a:lumOff val="15000"/>
            </a:schemeClr>
          </a:gs>
        </a:gsLst>
        <a:path path="circle">
          <a:fillToRect l="50000" t="50000" r="50000" b="50000"/>
        </a:path>
        <a:tileRect/>
      </a:gradFill>
    </cs:spPr>
    <cs:defRPr sz="1330" kern="1200"/>
  </cs:chartArea>
  <cs:dataLabel>
    <cs:lnRef idx="0"/>
    <cs:fillRef idx="0"/>
    <cs:effectRef idx="0"/>
    <cs:fontRef idx="minor">
      <a:schemeClr val="lt1">
        <a:lumMod val="8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lt1">
        <a:lumMod val="85000"/>
      </a:schemeClr>
    </cs:fontRef>
    <cs:spPr>
      <a:ln w="9525">
        <a:solidFill>
          <a:schemeClr val="lt1">
            <a:lumMod val="95000"/>
            <a:alpha val="54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lt1"/>
    </cs:fontRef>
    <cs:spPr>
      <a:solidFill>
        <a:schemeClr val="dk1">
          <a:lumMod val="75000"/>
          <a:lumOff val="25000"/>
        </a:schemeClr>
      </a:solidFill>
      <a:ln w="9525">
        <a:solidFill>
          <a:schemeClr val="lt1">
            <a:lumMod val="95000"/>
            <a:alpha val="54000"/>
          </a:schemeClr>
        </a:solidFill>
      </a:ln>
    </cs:spPr>
  </cs:downBar>
  <cs:drop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</cs:gridlineMajor>
  <cs:gridlineMinor>
    <cs:lnRef idx="0"/>
    <cs:fillRef idx="0"/>
    <cs:effectRef idx="0"/>
    <cs:fontRef idx="minor">
      <a:schemeClr val="lt1"/>
    </cs:fontRef>
    <cs:spPr>
      <a:ln>
        <a:solidFill>
          <a:schemeClr val="lt1">
            <a:lumMod val="95000"/>
            <a:alpha val="5000"/>
          </a:schemeClr>
        </a:solidFill>
      </a:ln>
    </cs:spPr>
  </cs:gridlineMinor>
  <cs:hiLo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</a:ln>
    </cs:spPr>
  </cs:leaderLine>
  <cs:legend>
    <cs:lnRef idx="0"/>
    <cs:fillRef idx="0"/>
    <cs:effectRef idx="0"/>
    <cs:fontRef idx="minor">
      <a:schemeClr val="lt1">
        <a:lumMod val="8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54000"/>
          </a:schemeClr>
        </a:solidFill>
        <a:round/>
      </a:ln>
    </cs:spPr>
  </cs:seriesLine>
  <cs:title>
    <cs:lnRef idx="0"/>
    <cs:fillRef idx="0"/>
    <cs:effectRef idx="0"/>
    <cs:fontRef idx="minor">
      <a:schemeClr val="lt1">
        <a:lumMod val="95000"/>
      </a:schemeClr>
    </cs:fontRef>
    <cs:defRPr sz="2128" b="1" kern="1200" spc="100" baseline="0">
      <a:effectLst>
        <a:outerShdw blurRad="50800" dist="38100" dir="5400000" algn="t" rotWithShape="0">
          <a:prstClr val="black">
            <a:alpha val="40000"/>
          </a:prstClr>
        </a:outerShdw>
      </a:effectLst>
    </cs:defRPr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lt1">
        <a:lumMod val="85000"/>
      </a:schemeClr>
    </cs:fontRef>
    <cs:defRPr sz="1197" kern="1200"/>
  </cs:trendlineLabel>
  <cs:upBar>
    <cs:lnRef idx="0"/>
    <cs:fillRef idx="0"/>
    <cs:effectRef idx="0"/>
    <cs:fontRef idx="minor">
      <a:schemeClr val="lt1"/>
    </cs:fontRef>
    <cs:spPr>
      <a:solidFill>
        <a:schemeClr val="lt1"/>
      </a:solidFill>
      <a:ln w="9525">
        <a:solidFill>
          <a:schemeClr val="lt1">
            <a:lumMod val="95000"/>
            <a:alpha val="54000"/>
          </a:schemeClr>
        </a:solidFill>
      </a:ln>
    </cs:spPr>
  </cs:upBar>
  <cs:valueAxis>
    <cs:lnRef idx="0"/>
    <cs:fillRef idx="0"/>
    <cs:effectRef idx="0"/>
    <cs:fontRef idx="minor">
      <a:schemeClr val="lt1">
        <a:lumMod val="8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charts/style7.xml><?xml version="1.0" encoding="utf-8"?>
<cs:chartStyle xmlns:cs="http://schemas.microsoft.com/office/drawing/2012/chartStyle" xmlns:a="http://schemas.openxmlformats.org/drawingml/2006/main" id="209">
  <cs:axisTitle>
    <cs:lnRef idx="0"/>
    <cs:fillRef idx="0"/>
    <cs:effectRef idx="0"/>
    <cs:fontRef idx="minor">
      <a:schemeClr val="lt1">
        <a:lumMod val="85000"/>
      </a:schemeClr>
    </cs:fontRef>
    <cs:defRPr sz="1197" b="1" kern="1200" cap="all"/>
  </cs:axisTitle>
  <cs:category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1197" kern="120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dk1">
              <a:lumMod val="65000"/>
              <a:lumOff val="35000"/>
            </a:schemeClr>
          </a:gs>
          <a:gs pos="100000">
            <a:schemeClr val="dk1">
              <a:lumMod val="85000"/>
              <a:lumOff val="15000"/>
            </a:schemeClr>
          </a:gs>
        </a:gsLst>
        <a:path path="circle">
          <a:fillToRect l="50000" t="50000" r="50000" b="50000"/>
        </a:path>
        <a:tileRect/>
      </a:gradFill>
    </cs:spPr>
    <cs:defRPr sz="1330" kern="1200"/>
  </cs:chartArea>
  <cs:dataLabel>
    <cs:lnRef idx="0"/>
    <cs:fillRef idx="0"/>
    <cs:effectRef idx="0"/>
    <cs:fontRef idx="minor">
      <a:schemeClr val="lt1">
        <a:lumMod val="8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lt1">
        <a:lumMod val="85000"/>
      </a:schemeClr>
    </cs:fontRef>
    <cs:spPr>
      <a:ln w="9525">
        <a:solidFill>
          <a:schemeClr val="lt1">
            <a:lumMod val="95000"/>
            <a:alpha val="54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lt1"/>
    </cs:fontRef>
    <cs:spPr>
      <a:solidFill>
        <a:schemeClr val="dk1">
          <a:lumMod val="75000"/>
          <a:lumOff val="25000"/>
        </a:schemeClr>
      </a:solidFill>
      <a:ln w="9525">
        <a:solidFill>
          <a:schemeClr val="lt1">
            <a:lumMod val="95000"/>
            <a:alpha val="54000"/>
          </a:schemeClr>
        </a:solidFill>
      </a:ln>
    </cs:spPr>
  </cs:downBar>
  <cs:drop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</cs:gridlineMajor>
  <cs:gridlineMinor>
    <cs:lnRef idx="0"/>
    <cs:fillRef idx="0"/>
    <cs:effectRef idx="0"/>
    <cs:fontRef idx="minor">
      <a:schemeClr val="lt1"/>
    </cs:fontRef>
    <cs:spPr>
      <a:ln>
        <a:solidFill>
          <a:schemeClr val="lt1">
            <a:lumMod val="95000"/>
            <a:alpha val="5000"/>
          </a:schemeClr>
        </a:solidFill>
      </a:ln>
    </cs:spPr>
  </cs:gridlineMinor>
  <cs:hiLo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</a:ln>
    </cs:spPr>
  </cs:leaderLine>
  <cs:legend>
    <cs:lnRef idx="0"/>
    <cs:fillRef idx="0"/>
    <cs:effectRef idx="0"/>
    <cs:fontRef idx="minor">
      <a:schemeClr val="lt1">
        <a:lumMod val="8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54000"/>
          </a:schemeClr>
        </a:solidFill>
        <a:round/>
      </a:ln>
    </cs:spPr>
  </cs:seriesLine>
  <cs:title>
    <cs:lnRef idx="0"/>
    <cs:fillRef idx="0"/>
    <cs:effectRef idx="0"/>
    <cs:fontRef idx="minor">
      <a:schemeClr val="lt1">
        <a:lumMod val="95000"/>
      </a:schemeClr>
    </cs:fontRef>
    <cs:defRPr sz="2128" b="1" kern="1200" spc="100" baseline="0">
      <a:effectLst>
        <a:outerShdw blurRad="50800" dist="38100" dir="5400000" algn="t" rotWithShape="0">
          <a:prstClr val="black">
            <a:alpha val="40000"/>
          </a:prstClr>
        </a:outerShdw>
      </a:effectLst>
    </cs:defRPr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lt1">
        <a:lumMod val="85000"/>
      </a:schemeClr>
    </cs:fontRef>
    <cs:defRPr sz="1197" kern="1200"/>
  </cs:trendlineLabel>
  <cs:upBar>
    <cs:lnRef idx="0"/>
    <cs:fillRef idx="0"/>
    <cs:effectRef idx="0"/>
    <cs:fontRef idx="minor">
      <a:schemeClr val="lt1"/>
    </cs:fontRef>
    <cs:spPr>
      <a:solidFill>
        <a:schemeClr val="lt1"/>
      </a:solidFill>
      <a:ln w="9525">
        <a:solidFill>
          <a:schemeClr val="lt1">
            <a:lumMod val="95000"/>
            <a:alpha val="54000"/>
          </a:schemeClr>
        </a:solidFill>
      </a:ln>
    </cs:spPr>
  </cs:upBar>
  <cs:valueAxis>
    <cs:lnRef idx="0"/>
    <cs:fillRef idx="0"/>
    <cs:effectRef idx="0"/>
    <cs:fontRef idx="minor">
      <a:schemeClr val="lt1">
        <a:lumMod val="8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29-Aug-26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29-Aug-26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29-Aug-26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29-Aug-26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29-Aug-26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29-Aug-26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29-Aug-26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29-Aug-26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29-Aug-26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29-Aug-26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29-Aug-26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29-Aug-26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pic>
        <p:nvPicPr>
          <p:cNvPr id="3" name="Picture 2" descr="3087406e-fe61-44ad-b0da-f0ce26188a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7000" y="109728"/>
            <a:ext cx="1572768" cy="64340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A7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502788" cy="116955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18355E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Commercial Vehicles</a:t>
            </a:r>
          </a:p>
          <a:p>
            <a:pPr>
              <a:defRPr sz="3200" b="1">
                <a:solidFill>
                  <a:srgbClr val="00A7A4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Sales Revenue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852928"/>
            <a:ext cx="5404108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232A32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Tata Motors • Ashok Leyland • Eicher (VECV) • BharatBenz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401568"/>
            <a:ext cx="3144194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C6978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July 2026 | YoY &amp; Target Performance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4709160"/>
            <a:ext cx="2423160" cy="960120"/>
          </a:xfrm>
          <a:prstGeom prst="roundRect">
            <a:avLst/>
          </a:prstGeom>
          <a:solidFill>
            <a:srgbClr val="F4F7FA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13232" y="4709160"/>
            <a:ext cx="73152" cy="960120"/>
          </a:xfrm>
          <a:prstGeom prst="rect">
            <a:avLst/>
          </a:prstGeom>
          <a:solidFill>
            <a:srgbClr val="00A7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41832" y="4873752"/>
            <a:ext cx="1090363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5C6978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TOTAL REVENUE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5212080"/>
            <a:ext cx="2081019" cy="4462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232A32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₹13,257.63 Cr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5078578"/>
            <a:ext cx="938077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C6978"/>
                </a:solidFill>
              </a:defRPr>
            </a:pPr>
            <a:r>
              <a:rPr b="1" dirty="0">
                <a:latin typeface="Gadugi" panose="020B0502040204020203" pitchFamily="34" charset="0"/>
                <a:ea typeface="Gadugi" panose="020B0502040204020203" pitchFamily="34" charset="0"/>
              </a:rPr>
              <a:t>Across 4 OEMs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7560" y="4709160"/>
            <a:ext cx="2423160" cy="960120"/>
          </a:xfrm>
          <a:prstGeom prst="roundRect">
            <a:avLst/>
          </a:prstGeom>
          <a:solidFill>
            <a:srgbClr val="F4F7FA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337560" y="4709160"/>
            <a:ext cx="73152" cy="960120"/>
          </a:xfrm>
          <a:prstGeom prst="rect">
            <a:avLst/>
          </a:prstGeom>
          <a:solidFill>
            <a:srgbClr val="18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566160" y="4873752"/>
            <a:ext cx="856325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5C6978"/>
                </a:solidFill>
              </a:defRPr>
            </a:pPr>
            <a:r>
              <a:rPr b="1" dirty="0">
                <a:latin typeface="Gadugi" panose="020B0502040204020203" pitchFamily="34" charset="0"/>
                <a:ea typeface="Gadugi" panose="020B0502040204020203" pitchFamily="34" charset="0"/>
              </a:rPr>
              <a:t>UNITS SOLD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5212080"/>
            <a:ext cx="1114408" cy="4462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232A32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69,139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7016" y="5058460"/>
            <a:ext cx="668773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C6978"/>
                </a:solidFill>
              </a:defRPr>
            </a:pPr>
            <a:r>
              <a:rPr b="1" dirty="0">
                <a:latin typeface="Gadugi" panose="020B0502040204020203" pitchFamily="34" charset="0"/>
                <a:ea typeface="Gadugi" panose="020B0502040204020203" pitchFamily="34" charset="0"/>
              </a:rPr>
              <a:t>July 2026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61888" y="4709160"/>
            <a:ext cx="2423160" cy="960120"/>
          </a:xfrm>
          <a:prstGeom prst="roundRect">
            <a:avLst/>
          </a:prstGeom>
          <a:solidFill>
            <a:srgbClr val="F4F7FA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961888" y="4709160"/>
            <a:ext cx="73152" cy="960120"/>
          </a:xfrm>
          <a:prstGeom prst="rect">
            <a:avLst/>
          </a:prstGeom>
          <a:solidFill>
            <a:srgbClr val="2984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190488" y="4873752"/>
            <a:ext cx="1228221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5C6978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TARGET VARIANCE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0488" y="5212080"/>
            <a:ext cx="1031051" cy="4462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232A32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1.20%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56962" y="5058460"/>
            <a:ext cx="1345240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C6978"/>
                </a:solidFill>
              </a:defRPr>
            </a:pPr>
            <a:r>
              <a:rPr b="1" dirty="0">
                <a:latin typeface="Gadugi" panose="020B0502040204020203" pitchFamily="34" charset="0"/>
                <a:ea typeface="Gadugi" panose="020B0502040204020203" pitchFamily="34" charset="0"/>
              </a:rPr>
              <a:t>Above portfolio target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86216" y="4709160"/>
            <a:ext cx="2423160" cy="960120"/>
          </a:xfrm>
          <a:prstGeom prst="roundRect">
            <a:avLst/>
          </a:prstGeom>
          <a:solidFill>
            <a:srgbClr val="F4F7FA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8586216" y="4709160"/>
            <a:ext cx="73152" cy="960120"/>
          </a:xfrm>
          <a:prstGeom prst="rect">
            <a:avLst/>
          </a:prstGeom>
          <a:solidFill>
            <a:srgbClr val="BE8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814816" y="4873752"/>
            <a:ext cx="1266693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5C6978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AVG. YOY GROWTH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14816" y="5212080"/>
            <a:ext cx="1200970" cy="4462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232A32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24.22%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81290" y="5050398"/>
            <a:ext cx="1787669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C6978"/>
                </a:solidFill>
              </a:defRPr>
            </a:pPr>
            <a:r>
              <a:rPr b="1" dirty="0">
                <a:latin typeface="Gadugi" panose="020B0502040204020203" pitchFamily="34" charset="0"/>
                <a:ea typeface="Gadugi" panose="020B0502040204020203" pitchFamily="34" charset="0"/>
              </a:rPr>
              <a:t>Simple average of OEM growth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6510528"/>
            <a:ext cx="11201400" cy="10972"/>
          </a:xfrm>
          <a:prstGeom prst="rect">
            <a:avLst/>
          </a:prstGeom>
          <a:solidFill>
            <a:srgbClr val="D7DC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30352" y="6547104"/>
            <a:ext cx="4487126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C6978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Source: Supplied Excel workbook | July 2026 commercial vehicle sales &amp; revenue analysis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8902" y="6528816"/>
            <a:ext cx="243978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C6978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pic>
        <p:nvPicPr>
          <p:cNvPr id="3" name="Picture 2" descr="3087406e-fe61-44ad-b0da-f0ce26188a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7000" y="109728"/>
            <a:ext cx="1572768" cy="64340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3580211" cy="5078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8355E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Executive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960120"/>
            <a:ext cx="3812262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C6978"/>
                </a:solidFill>
              </a:defRPr>
            </a:pPr>
            <a:r>
              <a:rPr b="1" dirty="0">
                <a:latin typeface="Gadugi" panose="020B0502040204020203" pitchFamily="34" charset="0"/>
                <a:ea typeface="Gadugi" panose="020B0502040204020203" pitchFamily="34" charset="0"/>
              </a:rPr>
              <a:t>Portfolio-level KPIs from the supplied Excel dashboard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417320"/>
            <a:ext cx="2560320" cy="1143000"/>
          </a:xfrm>
          <a:prstGeom prst="roundRect">
            <a:avLst/>
          </a:prstGeom>
          <a:solidFill>
            <a:srgbClr val="F4F7FA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73152" cy="1143000"/>
          </a:xfrm>
          <a:prstGeom prst="rect">
            <a:avLst/>
          </a:prstGeom>
          <a:solidFill>
            <a:srgbClr val="00A7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22960" y="1581912"/>
            <a:ext cx="1090363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5C6978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TOTAL REVENUE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09157"/>
            <a:ext cx="2081019" cy="4462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232A32"/>
                </a:solidFill>
              </a:defRPr>
            </a:pPr>
            <a:r>
              <a:rPr b="1" dirty="0">
                <a:latin typeface="Gadugi" panose="020B0502040204020203" pitchFamily="34" charset="0"/>
                <a:ea typeface="Gadugi" panose="020B0502040204020203" pitchFamily="34" charset="0"/>
              </a:rPr>
              <a:t>₹13,257.63 Cr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258568"/>
            <a:ext cx="1122423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C6978"/>
                </a:solidFill>
              </a:defRPr>
            </a:pPr>
            <a:r>
              <a:rPr b="1" dirty="0">
                <a:latin typeface="Gadugi" panose="020B0502040204020203" pitchFamily="34" charset="0"/>
                <a:ea typeface="Gadugi" panose="020B0502040204020203" pitchFamily="34" charset="0"/>
              </a:rPr>
              <a:t>Target: ₹13,100 Cr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417320"/>
            <a:ext cx="2560320" cy="1143000"/>
          </a:xfrm>
          <a:prstGeom prst="roundRect">
            <a:avLst/>
          </a:prstGeom>
          <a:solidFill>
            <a:srgbClr val="F4F7FA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337560" y="1417320"/>
            <a:ext cx="73152" cy="1143000"/>
          </a:xfrm>
          <a:prstGeom prst="rect">
            <a:avLst/>
          </a:prstGeom>
          <a:solidFill>
            <a:srgbClr val="2984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566160" y="1581912"/>
            <a:ext cx="1303562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5C6978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REVENUE VARIANCE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6669" y="1809157"/>
            <a:ext cx="1031051" cy="4462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232A32"/>
                </a:solidFill>
              </a:defRPr>
            </a:pPr>
            <a:r>
              <a:rPr b="1" dirty="0">
                <a:latin typeface="Gadugi" panose="020B0502040204020203" pitchFamily="34" charset="0"/>
                <a:ea typeface="Gadugi" panose="020B0502040204020203" pitchFamily="34" charset="0"/>
              </a:rPr>
              <a:t>1.20%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5078" y="2255433"/>
            <a:ext cx="1119217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C6978"/>
                </a:solidFill>
              </a:defRPr>
            </a:pPr>
            <a:r>
              <a:rPr b="1" dirty="0">
                <a:latin typeface="Gadugi" panose="020B0502040204020203" pitchFamily="34" charset="0"/>
                <a:ea typeface="Gadugi" panose="020B0502040204020203" pitchFamily="34" charset="0"/>
              </a:rPr>
              <a:t>Vs. target revenue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0760" y="1417320"/>
            <a:ext cx="2560320" cy="1143000"/>
          </a:xfrm>
          <a:prstGeom prst="roundRect">
            <a:avLst/>
          </a:prstGeom>
          <a:solidFill>
            <a:srgbClr val="F4F7FA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080760" y="1417320"/>
            <a:ext cx="73152" cy="1143000"/>
          </a:xfrm>
          <a:prstGeom prst="rect">
            <a:avLst/>
          </a:prstGeom>
          <a:solidFill>
            <a:srgbClr val="18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266720" y="1561347"/>
            <a:ext cx="1252266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5C6978"/>
                </a:solidFill>
              </a:defRPr>
            </a:pPr>
            <a:r>
              <a:rPr b="1" dirty="0">
                <a:latin typeface="Gadugi" panose="020B0502040204020203" pitchFamily="34" charset="0"/>
                <a:ea typeface="Gadugi" panose="020B0502040204020203" pitchFamily="34" charset="0"/>
              </a:rPr>
              <a:t>TOTAL UNITS SOLD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04162" y="1812744"/>
            <a:ext cx="1114408" cy="4462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232A32"/>
                </a:solidFill>
              </a:defRPr>
            </a:pPr>
            <a:r>
              <a:rPr b="1" dirty="0">
                <a:latin typeface="Gadugi" panose="020B0502040204020203" pitchFamily="34" charset="0"/>
                <a:ea typeface="Gadugi" panose="020B0502040204020203" pitchFamily="34" charset="0"/>
              </a:rPr>
              <a:t>69,139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3402" y="2252901"/>
            <a:ext cx="668773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C6978"/>
                </a:solidFill>
              </a:defRPr>
            </a:pPr>
            <a:r>
              <a:rPr b="1" dirty="0">
                <a:latin typeface="Gadugi" panose="020B0502040204020203" pitchFamily="34" charset="0"/>
                <a:ea typeface="Gadugi" panose="020B0502040204020203" pitchFamily="34" charset="0"/>
              </a:rPr>
              <a:t>July 2026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23960" y="1417320"/>
            <a:ext cx="2560320" cy="1143000"/>
          </a:xfrm>
          <a:prstGeom prst="roundRect">
            <a:avLst/>
          </a:prstGeom>
          <a:solidFill>
            <a:srgbClr val="F4F7FA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8823960" y="1417320"/>
            <a:ext cx="73152" cy="1143000"/>
          </a:xfrm>
          <a:prstGeom prst="rect">
            <a:avLst/>
          </a:prstGeom>
          <a:solidFill>
            <a:srgbClr val="BE8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984205" y="1578281"/>
            <a:ext cx="1670650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5C6978"/>
                </a:solidFill>
              </a:defRPr>
            </a:pPr>
            <a:r>
              <a:rPr b="1" dirty="0">
                <a:latin typeface="Gadugi" panose="020B0502040204020203" pitchFamily="34" charset="0"/>
                <a:ea typeface="Gadugi" panose="020B0502040204020203" pitchFamily="34" charset="0"/>
              </a:rPr>
              <a:t>PORTFOLIO AVG. GROWTH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23883" y="1816429"/>
            <a:ext cx="1200970" cy="4462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232A32"/>
                </a:solidFill>
              </a:defRPr>
            </a:pPr>
            <a:r>
              <a:rPr b="1" dirty="0">
                <a:latin typeface="Gadugi" panose="020B0502040204020203" pitchFamily="34" charset="0"/>
                <a:ea typeface="Gadugi" panose="020B0502040204020203" pitchFamily="34" charset="0"/>
              </a:rPr>
              <a:t>24.22%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4205" y="2259020"/>
            <a:ext cx="1032655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C6978"/>
                </a:solidFill>
              </a:defRPr>
            </a:pPr>
            <a:r>
              <a:rPr b="1" dirty="0">
                <a:latin typeface="Gadugi" panose="020B0502040204020203" pitchFamily="34" charset="0"/>
                <a:ea typeface="Gadugi" panose="020B0502040204020203" pitchFamily="34" charset="0"/>
              </a:rPr>
              <a:t>Excel calculation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7347738"/>
              </p:ext>
            </p:extLst>
          </p:nvPr>
        </p:nvGraphicFramePr>
        <p:xfrm>
          <a:off x="640080" y="2880360"/>
          <a:ext cx="5486400" cy="2971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Chart 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5076401"/>
              </p:ext>
            </p:extLst>
          </p:nvPr>
        </p:nvGraphicFramePr>
        <p:xfrm>
          <a:off x="6355080" y="2880360"/>
          <a:ext cx="5166360" cy="2971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8" name="Rectangle 27"/>
          <p:cNvSpPr/>
          <p:nvPr/>
        </p:nvSpPr>
        <p:spPr>
          <a:xfrm>
            <a:off x="502920" y="6510528"/>
            <a:ext cx="11201400" cy="10972"/>
          </a:xfrm>
          <a:prstGeom prst="rect">
            <a:avLst/>
          </a:prstGeom>
          <a:solidFill>
            <a:srgbClr val="D7DC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30352" y="6547104"/>
            <a:ext cx="4487126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C6978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Source: Supplied Excel workbook | July 2026 commercial vehicle sales &amp; revenue analysis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68902" y="6528816"/>
            <a:ext cx="243978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C6978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pic>
        <p:nvPicPr>
          <p:cNvPr id="3" name="Picture 2" descr="3087406e-fe61-44ad-b0da-f0ce26188a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7000" y="109728"/>
            <a:ext cx="1572768" cy="64340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4844403" cy="5078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8355E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OEM Performance Scorecard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960120"/>
            <a:ext cx="3065263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C6978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July 2026 sales, revenue, target and growth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9975030"/>
              </p:ext>
            </p:extLst>
          </p:nvPr>
        </p:nvGraphicFramePr>
        <p:xfrm>
          <a:off x="411480" y="1325880"/>
          <a:ext cx="10012680" cy="4251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7086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rPr sz="1400" b="1" dirty="0">
                          <a:latin typeface="Gadugi" panose="020B0502040204020203" pitchFamily="34" charset="0"/>
                          <a:ea typeface="Gadugi" panose="020B0502040204020203" pitchFamily="34" charset="0"/>
                        </a:rPr>
                        <a:t>OEM / Brand</a:t>
                      </a:r>
                    </a:p>
                  </a:txBody>
                  <a:tcPr>
                    <a:solidFill>
                      <a:srgbClr val="18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rPr sz="1400" b="1">
                          <a:latin typeface="Gadugi" panose="020B0502040204020203" pitchFamily="34" charset="0"/>
                          <a:ea typeface="Gadugi" panose="020B0502040204020203" pitchFamily="34" charset="0"/>
                        </a:rPr>
                        <a:t>Units Sold</a:t>
                      </a:r>
                    </a:p>
                  </a:txBody>
                  <a:tcPr>
                    <a:solidFill>
                      <a:srgbClr val="18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rPr sz="1400" b="1">
                          <a:latin typeface="Gadugi" panose="020B0502040204020203" pitchFamily="34" charset="0"/>
                          <a:ea typeface="Gadugi" panose="020B0502040204020203" pitchFamily="34" charset="0"/>
                        </a:rPr>
                        <a:t>ASP (₹ Lakh)</a:t>
                      </a:r>
                    </a:p>
                  </a:txBody>
                  <a:tcPr>
                    <a:solidFill>
                      <a:srgbClr val="18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rPr sz="1400" b="1">
                          <a:latin typeface="Gadugi" panose="020B0502040204020203" pitchFamily="34" charset="0"/>
                          <a:ea typeface="Gadugi" panose="020B0502040204020203" pitchFamily="34" charset="0"/>
                        </a:rPr>
                        <a:t>Revenue (₹ Cr)</a:t>
                      </a:r>
                    </a:p>
                  </a:txBody>
                  <a:tcPr>
                    <a:solidFill>
                      <a:srgbClr val="18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rPr sz="1400" b="1">
                          <a:latin typeface="Gadugi" panose="020B0502040204020203" pitchFamily="34" charset="0"/>
                          <a:ea typeface="Gadugi" panose="020B0502040204020203" pitchFamily="34" charset="0"/>
                        </a:rPr>
                        <a:t>Target (₹ Cr)</a:t>
                      </a:r>
                    </a:p>
                  </a:txBody>
                  <a:tcPr>
                    <a:solidFill>
                      <a:srgbClr val="18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rPr sz="1400" b="1">
                          <a:latin typeface="Gadugi" panose="020B0502040204020203" pitchFamily="34" charset="0"/>
                          <a:ea typeface="Gadugi" panose="020B0502040204020203" pitchFamily="34" charset="0"/>
                        </a:rPr>
                        <a:t>Variance</a:t>
                      </a:r>
                    </a:p>
                  </a:txBody>
                  <a:tcPr>
                    <a:solidFill>
                      <a:srgbClr val="18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rPr sz="1400" b="1">
                          <a:latin typeface="Gadugi" panose="020B0502040204020203" pitchFamily="34" charset="0"/>
                          <a:ea typeface="Gadugi" panose="020B0502040204020203" pitchFamily="34" charset="0"/>
                        </a:rPr>
                        <a:t>YoY Growth</a:t>
                      </a:r>
                    </a:p>
                  </a:txBody>
                  <a:tcPr>
                    <a:solidFill>
                      <a:srgbClr val="18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866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32A32"/>
                          </a:solidFill>
                        </a:defRPr>
                      </a:pPr>
                      <a:r>
                        <a:rPr sz="1400" b="1" dirty="0">
                          <a:latin typeface="Gadugi" panose="020B0502040204020203" pitchFamily="34" charset="0"/>
                          <a:ea typeface="Gadugi" panose="020B0502040204020203" pitchFamily="34" charset="0"/>
                        </a:rPr>
                        <a:t>Tata Motors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32A32"/>
                          </a:solidFill>
                        </a:defRPr>
                      </a:pPr>
                      <a:r>
                        <a:rPr sz="1400" b="1">
                          <a:latin typeface="Gadugi" panose="020B0502040204020203" pitchFamily="34" charset="0"/>
                          <a:ea typeface="Gadugi" panose="020B0502040204020203" pitchFamily="34" charset="0"/>
                        </a:rPr>
                        <a:t>39,641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32A32"/>
                          </a:solidFill>
                        </a:defRPr>
                      </a:pPr>
                      <a:r>
                        <a:rPr sz="1400" b="1">
                          <a:latin typeface="Gadugi" panose="020B0502040204020203" pitchFamily="34" charset="0"/>
                          <a:ea typeface="Gadugi" panose="020B0502040204020203" pitchFamily="34" charset="0"/>
                        </a:rPr>
                        <a:t>18.5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32A32"/>
                          </a:solidFill>
                        </a:defRPr>
                      </a:pPr>
                      <a:r>
                        <a:rPr sz="1400" b="1">
                          <a:latin typeface="Gadugi" panose="020B0502040204020203" pitchFamily="34" charset="0"/>
                          <a:ea typeface="Gadugi" panose="020B0502040204020203" pitchFamily="34" charset="0"/>
                        </a:rPr>
                        <a:t>7,333.59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32A32"/>
                          </a:solidFill>
                        </a:defRPr>
                      </a:pPr>
                      <a:r>
                        <a:rPr sz="1400" b="1">
                          <a:latin typeface="Gadugi" panose="020B0502040204020203" pitchFamily="34" charset="0"/>
                          <a:ea typeface="Gadugi" panose="020B0502040204020203" pitchFamily="34" charset="0"/>
                        </a:rPr>
                        <a:t>7,100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32A32"/>
                          </a:solidFill>
                        </a:defRPr>
                      </a:pPr>
                      <a:r>
                        <a:rPr sz="1400" b="1">
                          <a:latin typeface="Gadugi" panose="020B0502040204020203" pitchFamily="34" charset="0"/>
                          <a:ea typeface="Gadugi" panose="020B0502040204020203" pitchFamily="34" charset="0"/>
                        </a:rPr>
                        <a:t>3.29%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32A32"/>
                          </a:solidFill>
                        </a:defRPr>
                      </a:pPr>
                      <a:r>
                        <a:rPr sz="1400" b="1">
                          <a:latin typeface="Gadugi" panose="020B0502040204020203" pitchFamily="34" charset="0"/>
                          <a:ea typeface="Gadugi" panose="020B0502040204020203" pitchFamily="34" charset="0"/>
                        </a:rPr>
                        <a:t>36.9%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866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32A32"/>
                          </a:solidFill>
                        </a:defRPr>
                      </a:pPr>
                      <a:r>
                        <a:rPr sz="1400" b="1" dirty="0">
                          <a:latin typeface="Gadugi" panose="020B0502040204020203" pitchFamily="34" charset="0"/>
                          <a:ea typeface="Gadugi" panose="020B0502040204020203" pitchFamily="34" charset="0"/>
                        </a:rPr>
                        <a:t>Ashok Leyland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32A32"/>
                          </a:solidFill>
                        </a:defRPr>
                      </a:pPr>
                      <a:r>
                        <a:rPr sz="1400" b="1">
                          <a:latin typeface="Gadugi" panose="020B0502040204020203" pitchFamily="34" charset="0"/>
                          <a:ea typeface="Gadugi" panose="020B0502040204020203" pitchFamily="34" charset="0"/>
                        </a:rPr>
                        <a:t>19,590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32A32"/>
                          </a:solidFill>
                        </a:defRPr>
                      </a:pPr>
                      <a:r>
                        <a:rPr sz="1400" b="1">
                          <a:latin typeface="Gadugi" panose="020B0502040204020203" pitchFamily="34" charset="0"/>
                          <a:ea typeface="Gadugi" panose="020B0502040204020203" pitchFamily="34" charset="0"/>
                        </a:rPr>
                        <a:t>21.0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32A32"/>
                          </a:solidFill>
                        </a:defRPr>
                      </a:pPr>
                      <a:r>
                        <a:rPr sz="1400" b="1">
                          <a:latin typeface="Gadugi" panose="020B0502040204020203" pitchFamily="34" charset="0"/>
                          <a:ea typeface="Gadugi" panose="020B0502040204020203" pitchFamily="34" charset="0"/>
                        </a:rPr>
                        <a:t>4,113.90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32A32"/>
                          </a:solidFill>
                        </a:defRPr>
                      </a:pPr>
                      <a:r>
                        <a:rPr sz="1400" b="1">
                          <a:latin typeface="Gadugi" panose="020B0502040204020203" pitchFamily="34" charset="0"/>
                          <a:ea typeface="Gadugi" panose="020B0502040204020203" pitchFamily="34" charset="0"/>
                        </a:rPr>
                        <a:t>4,250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32A32"/>
                          </a:solidFill>
                        </a:defRPr>
                      </a:pPr>
                      <a:r>
                        <a:rPr sz="1400" b="1">
                          <a:latin typeface="Gadugi" panose="020B0502040204020203" pitchFamily="34" charset="0"/>
                          <a:ea typeface="Gadugi" panose="020B0502040204020203" pitchFamily="34" charset="0"/>
                        </a:rPr>
                        <a:t>-3.20%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32A32"/>
                          </a:solidFill>
                        </a:defRPr>
                      </a:pPr>
                      <a:r>
                        <a:rPr sz="1400" b="1">
                          <a:latin typeface="Gadugi" panose="020B0502040204020203" pitchFamily="34" charset="0"/>
                          <a:ea typeface="Gadugi" panose="020B0502040204020203" pitchFamily="34" charset="0"/>
                        </a:rPr>
                        <a:t>30.0%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866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32A32"/>
                          </a:solidFill>
                        </a:defRPr>
                      </a:pPr>
                      <a:r>
                        <a:rPr sz="1400" b="1" dirty="0">
                          <a:latin typeface="Gadugi" panose="020B0502040204020203" pitchFamily="34" charset="0"/>
                          <a:ea typeface="Gadugi" panose="020B0502040204020203" pitchFamily="34" charset="0"/>
                        </a:rPr>
                        <a:t>Eicher (VECV)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32A32"/>
                          </a:solidFill>
                        </a:defRPr>
                      </a:pPr>
                      <a:r>
                        <a:rPr sz="1400" b="1" dirty="0">
                          <a:latin typeface="Gadugi" panose="020B0502040204020203" pitchFamily="34" charset="0"/>
                          <a:ea typeface="Gadugi" panose="020B0502040204020203" pitchFamily="34" charset="0"/>
                        </a:rPr>
                        <a:t>8,241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32A32"/>
                          </a:solidFill>
                        </a:defRPr>
                      </a:pPr>
                      <a:r>
                        <a:rPr sz="1400" b="1" dirty="0">
                          <a:latin typeface="Gadugi" panose="020B0502040204020203" pitchFamily="34" charset="0"/>
                          <a:ea typeface="Gadugi" panose="020B0502040204020203" pitchFamily="34" charset="0"/>
                        </a:rPr>
                        <a:t>16.2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32A32"/>
                          </a:solidFill>
                        </a:defRPr>
                      </a:pPr>
                      <a:r>
                        <a:rPr sz="1400" b="1">
                          <a:latin typeface="Gadugi" panose="020B0502040204020203" pitchFamily="34" charset="0"/>
                          <a:ea typeface="Gadugi" panose="020B0502040204020203" pitchFamily="34" charset="0"/>
                        </a:rPr>
                        <a:t>1,335.04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32A32"/>
                          </a:solidFill>
                        </a:defRPr>
                      </a:pPr>
                      <a:r>
                        <a:rPr sz="1400" b="1">
                          <a:latin typeface="Gadugi" panose="020B0502040204020203" pitchFamily="34" charset="0"/>
                          <a:ea typeface="Gadugi" panose="020B0502040204020203" pitchFamily="34" charset="0"/>
                        </a:rPr>
                        <a:t>1,300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32A32"/>
                          </a:solidFill>
                        </a:defRPr>
                      </a:pPr>
                      <a:r>
                        <a:rPr sz="1400" b="1">
                          <a:latin typeface="Gadugi" panose="020B0502040204020203" pitchFamily="34" charset="0"/>
                          <a:ea typeface="Gadugi" panose="020B0502040204020203" pitchFamily="34" charset="0"/>
                        </a:rPr>
                        <a:t>2.69%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32A32"/>
                          </a:solidFill>
                        </a:defRPr>
                      </a:pPr>
                      <a:r>
                        <a:rPr sz="1400" b="1">
                          <a:latin typeface="Gadugi" panose="020B0502040204020203" pitchFamily="34" charset="0"/>
                          <a:ea typeface="Gadugi" panose="020B0502040204020203" pitchFamily="34" charset="0"/>
                        </a:rPr>
                        <a:t>15.8%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866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32A32"/>
                          </a:solidFill>
                        </a:defRPr>
                      </a:pPr>
                      <a:r>
                        <a:rPr sz="1400" b="1" dirty="0" err="1">
                          <a:latin typeface="Gadugi" panose="020B0502040204020203" pitchFamily="34" charset="0"/>
                          <a:ea typeface="Gadugi" panose="020B0502040204020203" pitchFamily="34" charset="0"/>
                        </a:rPr>
                        <a:t>BharatBenz</a:t>
                      </a:r>
                      <a:endParaRPr sz="1400" b="1" dirty="0">
                        <a:latin typeface="Gadugi" panose="020B0502040204020203" pitchFamily="34" charset="0"/>
                        <a:ea typeface="Gadugi" panose="020B0502040204020203" pitchFamily="34" charset="0"/>
                      </a:endParaRP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32A32"/>
                          </a:solidFill>
                        </a:defRPr>
                      </a:pPr>
                      <a:r>
                        <a:rPr sz="1400" b="1">
                          <a:latin typeface="Gadugi" panose="020B0502040204020203" pitchFamily="34" charset="0"/>
                          <a:ea typeface="Gadugi" panose="020B0502040204020203" pitchFamily="34" charset="0"/>
                        </a:rPr>
                        <a:t>1,667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32A32"/>
                          </a:solidFill>
                        </a:defRPr>
                      </a:pPr>
                      <a:r>
                        <a:rPr sz="1400" b="1">
                          <a:latin typeface="Gadugi" panose="020B0502040204020203" pitchFamily="34" charset="0"/>
                          <a:ea typeface="Gadugi" panose="020B0502040204020203" pitchFamily="34" charset="0"/>
                        </a:rPr>
                        <a:t>28.5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32A32"/>
                          </a:solidFill>
                        </a:defRPr>
                      </a:pPr>
                      <a:r>
                        <a:rPr sz="1400" b="1" dirty="0">
                          <a:latin typeface="Gadugi" panose="020B0502040204020203" pitchFamily="34" charset="0"/>
                          <a:ea typeface="Gadugi" panose="020B0502040204020203" pitchFamily="34" charset="0"/>
                        </a:rPr>
                        <a:t>475.10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32A32"/>
                          </a:solidFill>
                        </a:defRPr>
                      </a:pPr>
                      <a:r>
                        <a:rPr sz="1400" b="1" dirty="0">
                          <a:latin typeface="Gadugi" panose="020B0502040204020203" pitchFamily="34" charset="0"/>
                          <a:ea typeface="Gadugi" panose="020B0502040204020203" pitchFamily="34" charset="0"/>
                        </a:rPr>
                        <a:t>450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32A32"/>
                          </a:solidFill>
                        </a:defRPr>
                      </a:pPr>
                      <a:r>
                        <a:rPr sz="1400" b="1">
                          <a:latin typeface="Gadugi" panose="020B0502040204020203" pitchFamily="34" charset="0"/>
                          <a:ea typeface="Gadugi" panose="020B0502040204020203" pitchFamily="34" charset="0"/>
                        </a:rPr>
                        <a:t>5.58%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232A32"/>
                          </a:solidFill>
                        </a:defRPr>
                      </a:pPr>
                      <a:r>
                        <a:rPr sz="1400" b="1" dirty="0">
                          <a:latin typeface="Gadugi" panose="020B0502040204020203" pitchFamily="34" charset="0"/>
                          <a:ea typeface="Gadugi" panose="020B0502040204020203" pitchFamily="34" charset="0"/>
                        </a:rPr>
                        <a:t>14.2%</a:t>
                      </a:r>
                    </a:p>
                  </a:txBody>
                  <a:tcPr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08660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18355E"/>
                          </a:solidFill>
                        </a:defRPr>
                      </a:pPr>
                      <a:r>
                        <a:rPr sz="1400" b="1" dirty="0">
                          <a:latin typeface="Gadugi" panose="020B0502040204020203" pitchFamily="34" charset="0"/>
                          <a:ea typeface="Gadugi" panose="020B0502040204020203" pitchFamily="34" charset="0"/>
                        </a:rPr>
                        <a:t>Total / Average</a:t>
                      </a:r>
                    </a:p>
                  </a:txBody>
                  <a:tcPr>
                    <a:solidFill>
                      <a:srgbClr val="E1ED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8355E"/>
                          </a:solidFill>
                        </a:defRPr>
                      </a:pPr>
                      <a:r>
                        <a:rPr sz="1400" b="1" dirty="0">
                          <a:latin typeface="Gadugi" panose="020B0502040204020203" pitchFamily="34" charset="0"/>
                          <a:ea typeface="Gadugi" panose="020B0502040204020203" pitchFamily="34" charset="0"/>
                        </a:rPr>
                        <a:t>69,139</a:t>
                      </a:r>
                    </a:p>
                  </a:txBody>
                  <a:tcPr>
                    <a:solidFill>
                      <a:srgbClr val="E1ED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8355E"/>
                          </a:solidFill>
                        </a:defRPr>
                      </a:pPr>
                      <a:r>
                        <a:rPr sz="1400" b="1" dirty="0">
                          <a:latin typeface="Gadugi" panose="020B0502040204020203" pitchFamily="34" charset="0"/>
                          <a:ea typeface="Gadugi" panose="020B0502040204020203" pitchFamily="34" charset="0"/>
                        </a:rPr>
                        <a:t>19.18</a:t>
                      </a:r>
                    </a:p>
                  </a:txBody>
                  <a:tcPr>
                    <a:solidFill>
                      <a:srgbClr val="E1ED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8355E"/>
                          </a:solidFill>
                        </a:defRPr>
                      </a:pPr>
                      <a:r>
                        <a:rPr sz="1400" b="1" dirty="0">
                          <a:latin typeface="Gadugi" panose="020B0502040204020203" pitchFamily="34" charset="0"/>
                          <a:ea typeface="Gadugi" panose="020B0502040204020203" pitchFamily="34" charset="0"/>
                        </a:rPr>
                        <a:t>13,257.63</a:t>
                      </a:r>
                    </a:p>
                  </a:txBody>
                  <a:tcPr>
                    <a:solidFill>
                      <a:srgbClr val="E1ED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8355E"/>
                          </a:solidFill>
                        </a:defRPr>
                      </a:pPr>
                      <a:r>
                        <a:rPr sz="1400" b="1" dirty="0">
                          <a:latin typeface="Gadugi" panose="020B0502040204020203" pitchFamily="34" charset="0"/>
                          <a:ea typeface="Gadugi" panose="020B0502040204020203" pitchFamily="34" charset="0"/>
                        </a:rPr>
                        <a:t>13,100</a:t>
                      </a:r>
                    </a:p>
                  </a:txBody>
                  <a:tcPr>
                    <a:solidFill>
                      <a:srgbClr val="E1ED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8355E"/>
                          </a:solidFill>
                        </a:defRPr>
                      </a:pPr>
                      <a:r>
                        <a:rPr sz="1400" b="1" dirty="0">
                          <a:latin typeface="Gadugi" panose="020B0502040204020203" pitchFamily="34" charset="0"/>
                          <a:ea typeface="Gadugi" panose="020B0502040204020203" pitchFamily="34" charset="0"/>
                        </a:rPr>
                        <a:t>1.20%</a:t>
                      </a:r>
                    </a:p>
                  </a:txBody>
                  <a:tcPr>
                    <a:solidFill>
                      <a:srgbClr val="E1ED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8355E"/>
                          </a:solidFill>
                        </a:defRPr>
                      </a:pPr>
                      <a:r>
                        <a:rPr sz="1400" b="1" dirty="0">
                          <a:latin typeface="Gadugi" panose="020B0502040204020203" pitchFamily="34" charset="0"/>
                          <a:ea typeface="Gadugi" panose="020B0502040204020203" pitchFamily="34" charset="0"/>
                        </a:rPr>
                        <a:t>24.22%</a:t>
                      </a:r>
                    </a:p>
                  </a:txBody>
                  <a:tcPr>
                    <a:solidFill>
                      <a:srgbClr val="E1ED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5715000"/>
            <a:ext cx="8388835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C6978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Note: Variance = (Actual Revenue − Target Revenue) / Target Revenue. Portfolio Avg. Growth is the simple average of the four OEM YoY growth rates.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510528"/>
            <a:ext cx="11201400" cy="10972"/>
          </a:xfrm>
          <a:prstGeom prst="rect">
            <a:avLst/>
          </a:prstGeom>
          <a:solidFill>
            <a:srgbClr val="D7DC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30352" y="6547104"/>
            <a:ext cx="4487126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C6978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Source: Supplied Excel workbook | July 2026 commercial vehicle sales &amp; revenue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68902" y="6528816"/>
            <a:ext cx="243978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C6978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pic>
        <p:nvPicPr>
          <p:cNvPr id="3" name="Picture 2" descr="3087406e-fe61-44ad-b0da-f0ce26188a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7000" y="109728"/>
            <a:ext cx="1572768" cy="64340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3229282" cy="5078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8355E"/>
                </a:solidFill>
              </a:defRPr>
            </a:pPr>
            <a:r>
              <a:rPr>
                <a:latin typeface="Gadugi" panose="020B0502040204020203" pitchFamily="34" charset="0"/>
                <a:ea typeface="Gadugi" panose="020B0502040204020203" pitchFamily="34" charset="0"/>
              </a:rPr>
              <a:t>Revenue vs.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960120"/>
            <a:ext cx="2844048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C6978"/>
                </a:solidFill>
              </a:defRPr>
            </a:pPr>
            <a:r>
              <a:rPr>
                <a:latin typeface="Gadugi" panose="020B0502040204020203" pitchFamily="34" charset="0"/>
                <a:ea typeface="Gadugi" panose="020B0502040204020203" pitchFamily="34" charset="0"/>
              </a:rPr>
              <a:t>Who exceeded target—and by how much?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3017179"/>
              </p:ext>
            </p:extLst>
          </p:nvPr>
        </p:nvGraphicFramePr>
        <p:xfrm>
          <a:off x="640080" y="1417320"/>
          <a:ext cx="658368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635240" y="1508760"/>
            <a:ext cx="3840480" cy="841248"/>
          </a:xfrm>
          <a:prstGeom prst="roundRect">
            <a:avLst/>
          </a:prstGeom>
          <a:solidFill>
            <a:srgbClr val="F4F7FA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845552" y="1627631"/>
            <a:ext cx="992579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32A32"/>
                </a:solidFill>
              </a:defRPr>
            </a:pPr>
            <a:r>
              <a:rPr dirty="0">
                <a:latin typeface="Gadugi" panose="020B0502040204020203" pitchFamily="34" charset="0"/>
                <a:ea typeface="Gadugi" panose="020B0502040204020203" pitchFamily="34" charset="0"/>
              </a:rPr>
              <a:t>Tata Motors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26676" y="1618488"/>
            <a:ext cx="920444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 b="1">
                <a:solidFill>
                  <a:srgbClr val="29845A"/>
                </a:solidFill>
              </a:defRPr>
            </a:pPr>
            <a:r>
              <a:rPr>
                <a:latin typeface="Gadugi" panose="020B0502040204020203" pitchFamily="34" charset="0"/>
                <a:ea typeface="Gadugi" panose="020B0502040204020203" pitchFamily="34" charset="0"/>
              </a:rPr>
              <a:t>+3.29%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45552" y="1938528"/>
            <a:ext cx="2002471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C6978"/>
                </a:solidFill>
              </a:defRPr>
            </a:pPr>
            <a:r>
              <a:rPr dirty="0">
                <a:latin typeface="Gadugi" panose="020B0502040204020203" pitchFamily="34" charset="0"/>
                <a:ea typeface="Gadugi" panose="020B0502040204020203" pitchFamily="34" charset="0"/>
              </a:rPr>
              <a:t>Actual ₹7,333.59 Cr | Target ₹7,100 Cr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35240" y="2496312"/>
            <a:ext cx="3840480" cy="841248"/>
          </a:xfrm>
          <a:prstGeom prst="roundRect">
            <a:avLst/>
          </a:prstGeom>
          <a:solidFill>
            <a:srgbClr val="F4F7FA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845552" y="2615184"/>
            <a:ext cx="1146468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32A32"/>
                </a:solidFill>
              </a:defRPr>
            </a:pPr>
            <a:r>
              <a:rPr>
                <a:latin typeface="Gadugi" panose="020B0502040204020203" pitchFamily="34" charset="0"/>
                <a:ea typeface="Gadugi" panose="020B0502040204020203" pitchFamily="34" charset="0"/>
              </a:rPr>
              <a:t>Ashok Leyland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89193" y="2606040"/>
            <a:ext cx="857927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 b="1">
                <a:solidFill>
                  <a:srgbClr val="B93F3F"/>
                </a:solidFill>
              </a:defRPr>
            </a:pPr>
            <a:r>
              <a:rPr>
                <a:latin typeface="Gadugi" panose="020B0502040204020203" pitchFamily="34" charset="0"/>
                <a:ea typeface="Gadugi" panose="020B0502040204020203" pitchFamily="34" charset="0"/>
              </a:rPr>
              <a:t>-3.20%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45552" y="2926080"/>
            <a:ext cx="2002471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C6978"/>
                </a:solidFill>
              </a:defRPr>
            </a:pPr>
            <a:r>
              <a:rPr>
                <a:latin typeface="Gadugi" panose="020B0502040204020203" pitchFamily="34" charset="0"/>
                <a:ea typeface="Gadugi" panose="020B0502040204020203" pitchFamily="34" charset="0"/>
              </a:rPr>
              <a:t>Actual ₹4,113.90 Cr | Target ₹4,250 Cr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3483864"/>
            <a:ext cx="3840480" cy="841248"/>
          </a:xfrm>
          <a:prstGeom prst="roundRect">
            <a:avLst/>
          </a:prstGeom>
          <a:solidFill>
            <a:srgbClr val="F4F7FA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845552" y="3602736"/>
            <a:ext cx="1079142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32A32"/>
                </a:solidFill>
              </a:defRPr>
            </a:pPr>
            <a:r>
              <a:rPr>
                <a:latin typeface="Gadugi" panose="020B0502040204020203" pitchFamily="34" charset="0"/>
                <a:ea typeface="Gadugi" panose="020B0502040204020203" pitchFamily="34" charset="0"/>
              </a:rPr>
              <a:t>Eicher (VECV)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26676" y="3593592"/>
            <a:ext cx="920444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 b="1">
                <a:solidFill>
                  <a:srgbClr val="29845A"/>
                </a:solidFill>
              </a:defRPr>
            </a:pPr>
            <a:r>
              <a:rPr>
                <a:latin typeface="Gadugi" panose="020B0502040204020203" pitchFamily="34" charset="0"/>
                <a:ea typeface="Gadugi" panose="020B0502040204020203" pitchFamily="34" charset="0"/>
              </a:rPr>
              <a:t>+2.69%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45552" y="3913632"/>
            <a:ext cx="2002471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C6978"/>
                </a:solidFill>
              </a:defRPr>
            </a:pPr>
            <a:r>
              <a:rPr>
                <a:latin typeface="Gadugi" panose="020B0502040204020203" pitchFamily="34" charset="0"/>
                <a:ea typeface="Gadugi" panose="020B0502040204020203" pitchFamily="34" charset="0"/>
              </a:rPr>
              <a:t>Actual ₹1,335.04 Cr | Target ₹1,300 Cr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35240" y="4471416"/>
            <a:ext cx="3840480" cy="841248"/>
          </a:xfrm>
          <a:prstGeom prst="roundRect">
            <a:avLst/>
          </a:prstGeom>
          <a:solidFill>
            <a:srgbClr val="F4F7FA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845552" y="4590288"/>
            <a:ext cx="93968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32A32"/>
                </a:solidFill>
              </a:defRPr>
            </a:pPr>
            <a:r>
              <a:rPr>
                <a:latin typeface="Gadugi" panose="020B0502040204020203" pitchFamily="34" charset="0"/>
                <a:ea typeface="Gadugi" panose="020B0502040204020203" pitchFamily="34" charset="0"/>
              </a:rPr>
              <a:t>BharatBenz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26676" y="4581144"/>
            <a:ext cx="920444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 b="1">
                <a:solidFill>
                  <a:srgbClr val="29845A"/>
                </a:solidFill>
              </a:defRPr>
            </a:pPr>
            <a:r>
              <a:rPr>
                <a:latin typeface="Gadugi" panose="020B0502040204020203" pitchFamily="34" charset="0"/>
                <a:ea typeface="Gadugi" panose="020B0502040204020203" pitchFamily="34" charset="0"/>
              </a:rPr>
              <a:t>+5.58%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45552" y="4901184"/>
            <a:ext cx="1835759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C6978"/>
                </a:solidFill>
              </a:defRPr>
            </a:pPr>
            <a:r>
              <a:rPr>
                <a:latin typeface="Gadugi" panose="020B0502040204020203" pitchFamily="34" charset="0"/>
                <a:ea typeface="Gadugi" panose="020B0502040204020203" pitchFamily="34" charset="0"/>
              </a:rPr>
              <a:t>Actual ₹475.10 Cr | Target ₹450 Cr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6510528"/>
            <a:ext cx="11201400" cy="10972"/>
          </a:xfrm>
          <a:prstGeom prst="rect">
            <a:avLst/>
          </a:prstGeom>
          <a:solidFill>
            <a:srgbClr val="D7DC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30352" y="6547104"/>
            <a:ext cx="4208203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C6978"/>
                </a:solidFill>
              </a:defRPr>
            </a:pPr>
            <a:r>
              <a:rPr>
                <a:latin typeface="Gadugi" panose="020B0502040204020203" pitchFamily="34" charset="0"/>
                <a:ea typeface="Gadugi" panose="020B0502040204020203" pitchFamily="34" charset="0"/>
              </a:rPr>
              <a:t>Source: Supplied Excel workbook | July 2026 commercial vehicle sales &amp; revenue analysis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72108" y="6528816"/>
            <a:ext cx="240772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C6978"/>
                </a:solidFill>
              </a:defRPr>
            </a:pPr>
            <a:r>
              <a:rPr>
                <a:latin typeface="Gadugi" panose="020B0502040204020203" pitchFamily="34" charset="0"/>
                <a:ea typeface="Gadugi" panose="020B0502040204020203" pitchFamily="34" charset="0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pic>
        <p:nvPicPr>
          <p:cNvPr id="3" name="Picture 2" descr="3087406e-fe61-44ad-b0da-f0ce26188a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7000" y="109728"/>
            <a:ext cx="1572768" cy="64340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3760645" cy="5078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8355E"/>
                </a:solidFill>
              </a:defRPr>
            </a:pPr>
            <a:r>
              <a:rPr>
                <a:latin typeface="Gadugi" panose="020B0502040204020203" pitchFamily="34" charset="0"/>
                <a:ea typeface="Gadugi" panose="020B0502040204020203" pitchFamily="34" charset="0"/>
              </a:rPr>
              <a:t>Volume &amp; Pricing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960120"/>
            <a:ext cx="3985386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C6978"/>
                </a:solidFill>
              </a:defRPr>
            </a:pPr>
            <a:r>
              <a:rPr>
                <a:latin typeface="Gadugi" panose="020B0502040204020203" pitchFamily="34" charset="0"/>
                <a:ea typeface="Gadugi" panose="020B0502040204020203" pitchFamily="34" charset="0"/>
              </a:rPr>
              <a:t>Units sold and average selling price explain the revenue scale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0343478"/>
              </p:ext>
            </p:extLst>
          </p:nvPr>
        </p:nvGraphicFramePr>
        <p:xfrm>
          <a:off x="502920" y="1417320"/>
          <a:ext cx="562356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3368374"/>
              </p:ext>
            </p:extLst>
          </p:nvPr>
        </p:nvGraphicFramePr>
        <p:xfrm>
          <a:off x="6355080" y="1417320"/>
          <a:ext cx="512064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13232" y="5897880"/>
            <a:ext cx="4612160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C6978"/>
                </a:solidFill>
              </a:defRPr>
            </a:pPr>
            <a:r>
              <a:rPr>
                <a:latin typeface="Gadugi" panose="020B0502040204020203" pitchFamily="34" charset="0"/>
                <a:ea typeface="Gadugi" panose="020B0502040204020203" pitchFamily="34" charset="0"/>
              </a:rPr>
              <a:t>Portfolio average ASP: ₹19.18 Lakh / Unit, calculated from total revenue and total units.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0528"/>
            <a:ext cx="11201400" cy="10972"/>
          </a:xfrm>
          <a:prstGeom prst="rect">
            <a:avLst/>
          </a:prstGeom>
          <a:solidFill>
            <a:srgbClr val="D7DC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30352" y="6547104"/>
            <a:ext cx="4208203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C6978"/>
                </a:solidFill>
              </a:defRPr>
            </a:pPr>
            <a:r>
              <a:rPr>
                <a:latin typeface="Gadugi" panose="020B0502040204020203" pitchFamily="34" charset="0"/>
                <a:ea typeface="Gadugi" panose="020B0502040204020203" pitchFamily="34" charset="0"/>
              </a:rPr>
              <a:t>Source: Supplied Excel workbook | July 2026 commercial vehicle sales &amp; revenue analysis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72108" y="6528816"/>
            <a:ext cx="240772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C6978"/>
                </a:solidFill>
              </a:defRPr>
            </a:pPr>
            <a:r>
              <a:rPr>
                <a:latin typeface="Gadugi" panose="020B0502040204020203" pitchFamily="34" charset="0"/>
                <a:ea typeface="Gadugi" panose="020B0502040204020203" pitchFamily="34" charset="0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pic>
        <p:nvPicPr>
          <p:cNvPr id="3" name="Picture 2" descr="3087406e-fe61-44ad-b0da-f0ce26188a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7000" y="109728"/>
            <a:ext cx="1572768" cy="64340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3575466" cy="5078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8355E"/>
                </a:solidFill>
              </a:defRPr>
            </a:pPr>
            <a:r>
              <a:rPr>
                <a:latin typeface="Gadugi" panose="020B0502040204020203" pitchFamily="34" charset="0"/>
                <a:ea typeface="Gadugi" panose="020B0502040204020203" pitchFamily="34" charset="0"/>
              </a:rPr>
              <a:t>YoY Revenue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960120"/>
            <a:ext cx="29610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C6978"/>
                </a:solidFill>
              </a:defRPr>
            </a:pPr>
            <a:r>
              <a:rPr>
                <a:latin typeface="Gadugi" panose="020B0502040204020203" pitchFamily="34" charset="0"/>
                <a:ea typeface="Gadugi" panose="020B0502040204020203" pitchFamily="34" charset="0"/>
              </a:rPr>
              <a:t>Growth rates supplied in the Excel workbook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8891276"/>
              </p:ext>
            </p:extLst>
          </p:nvPr>
        </p:nvGraphicFramePr>
        <p:xfrm>
          <a:off x="640080" y="1417320"/>
          <a:ext cx="6675120" cy="4526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635240" y="1554480"/>
            <a:ext cx="3794760" cy="822960"/>
          </a:xfrm>
          <a:prstGeom prst="roundRect">
            <a:avLst/>
          </a:prstGeom>
          <a:solidFill>
            <a:srgbClr val="F4F7FA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899648" y="1700784"/>
            <a:ext cx="30328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0A7A4"/>
                </a:solidFill>
              </a:defRPr>
            </a:pPr>
            <a:r>
              <a:rPr>
                <a:latin typeface="Gadugi" panose="020B0502040204020203" pitchFamily="34" charset="0"/>
                <a:ea typeface="Gadugi" panose="020B0502040204020203" pitchFamily="34" charset="0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1673352"/>
            <a:ext cx="992579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32A32"/>
                </a:solidFill>
              </a:defRPr>
            </a:pPr>
            <a:r>
              <a:rPr>
                <a:latin typeface="Gadugi" panose="020B0502040204020203" pitchFamily="34" charset="0"/>
                <a:ea typeface="Gadugi" panose="020B0502040204020203" pitchFamily="34" charset="0"/>
              </a:rPr>
              <a:t>Tata Motors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5301" y="1664207"/>
            <a:ext cx="736099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18355E"/>
                </a:solidFill>
              </a:defRPr>
            </a:pPr>
            <a:r>
              <a:rPr dirty="0">
                <a:latin typeface="Gadugi" panose="020B0502040204020203" pitchFamily="34" charset="0"/>
                <a:ea typeface="Gadugi" panose="020B0502040204020203" pitchFamily="34" charset="0"/>
              </a:rPr>
              <a:t>36.9%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35240" y="2542032"/>
            <a:ext cx="3794760" cy="822960"/>
          </a:xfrm>
          <a:prstGeom prst="roundRect">
            <a:avLst/>
          </a:prstGeom>
          <a:solidFill>
            <a:srgbClr val="F4F7FA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899648" y="2688336"/>
            <a:ext cx="30328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0A7A4"/>
                </a:solidFill>
              </a:defRPr>
            </a:pPr>
            <a:r>
              <a:rPr>
                <a:latin typeface="Gadugi" panose="020B0502040204020203" pitchFamily="34" charset="0"/>
                <a:ea typeface="Gadugi" panose="020B0502040204020203" pitchFamily="34" charset="0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660904"/>
            <a:ext cx="1146468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32A32"/>
                </a:solidFill>
              </a:defRPr>
            </a:pPr>
            <a:r>
              <a:rPr>
                <a:latin typeface="Gadugi" panose="020B0502040204020203" pitchFamily="34" charset="0"/>
                <a:ea typeface="Gadugi" panose="020B0502040204020203" pitchFamily="34" charset="0"/>
              </a:rPr>
              <a:t>Ashok Leyland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65301" y="2651760"/>
            <a:ext cx="736099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18355E"/>
                </a:solidFill>
              </a:defRPr>
            </a:pPr>
            <a:r>
              <a:rPr>
                <a:latin typeface="Gadugi" panose="020B0502040204020203" pitchFamily="34" charset="0"/>
                <a:ea typeface="Gadugi" panose="020B0502040204020203" pitchFamily="34" charset="0"/>
              </a:rPr>
              <a:t>30.0%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3529584"/>
            <a:ext cx="3794760" cy="822960"/>
          </a:xfrm>
          <a:prstGeom prst="roundRect">
            <a:avLst/>
          </a:prstGeom>
          <a:solidFill>
            <a:srgbClr val="F4F7FA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899648" y="3675888"/>
            <a:ext cx="30328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0A7A4"/>
                </a:solidFill>
              </a:defRPr>
            </a:pPr>
            <a:r>
              <a:rPr>
                <a:latin typeface="Gadugi" panose="020B0502040204020203" pitchFamily="34" charset="0"/>
                <a:ea typeface="Gadugi" panose="020B0502040204020203" pitchFamily="34" charset="0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648456"/>
            <a:ext cx="1079142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32A32"/>
                </a:solidFill>
              </a:defRPr>
            </a:pPr>
            <a:r>
              <a:rPr>
                <a:latin typeface="Gadugi" panose="020B0502040204020203" pitchFamily="34" charset="0"/>
                <a:ea typeface="Gadugi" panose="020B0502040204020203" pitchFamily="34" charset="0"/>
              </a:rPr>
              <a:t>Eicher (VECV)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65301" y="3639312"/>
            <a:ext cx="736099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18355E"/>
                </a:solidFill>
              </a:defRPr>
            </a:pPr>
            <a:r>
              <a:rPr>
                <a:latin typeface="Gadugi" panose="020B0502040204020203" pitchFamily="34" charset="0"/>
                <a:ea typeface="Gadugi" panose="020B0502040204020203" pitchFamily="34" charset="0"/>
              </a:rPr>
              <a:t>15.8%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35240" y="4517136"/>
            <a:ext cx="3794760" cy="822960"/>
          </a:xfrm>
          <a:prstGeom prst="roundRect">
            <a:avLst/>
          </a:prstGeom>
          <a:solidFill>
            <a:srgbClr val="F4F7FA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899648" y="4663440"/>
            <a:ext cx="30328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0A7A4"/>
                </a:solidFill>
              </a:defRPr>
            </a:pPr>
            <a:r>
              <a:rPr>
                <a:latin typeface="Gadugi" panose="020B0502040204020203" pitchFamily="34" charset="0"/>
                <a:ea typeface="Gadugi" panose="020B0502040204020203" pitchFamily="34" charset="0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636008"/>
            <a:ext cx="93968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32A32"/>
                </a:solidFill>
              </a:defRPr>
            </a:pPr>
            <a:r>
              <a:rPr>
                <a:latin typeface="Gadugi" panose="020B0502040204020203" pitchFamily="34" charset="0"/>
                <a:ea typeface="Gadugi" panose="020B0502040204020203" pitchFamily="34" charset="0"/>
              </a:rPr>
              <a:t>BharatBenz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65301" y="4626864"/>
            <a:ext cx="736099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18355E"/>
                </a:solidFill>
              </a:defRPr>
            </a:pPr>
            <a:r>
              <a:rPr>
                <a:latin typeface="Gadugi" panose="020B0502040204020203" pitchFamily="34" charset="0"/>
                <a:ea typeface="Gadugi" panose="020B0502040204020203" pitchFamily="34" charset="0"/>
              </a:rPr>
              <a:t>14.2%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6510528"/>
            <a:ext cx="11201400" cy="10972"/>
          </a:xfrm>
          <a:prstGeom prst="rect">
            <a:avLst/>
          </a:prstGeom>
          <a:solidFill>
            <a:srgbClr val="D7DC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30352" y="6547104"/>
            <a:ext cx="4208203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C6978"/>
                </a:solidFill>
              </a:defRPr>
            </a:pPr>
            <a:r>
              <a:rPr>
                <a:latin typeface="Gadugi" panose="020B0502040204020203" pitchFamily="34" charset="0"/>
                <a:ea typeface="Gadugi" panose="020B0502040204020203" pitchFamily="34" charset="0"/>
              </a:rPr>
              <a:t>Source: Supplied Excel workbook | July 2026 commercial vehicle sales &amp; revenue analysis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72108" y="6528816"/>
            <a:ext cx="240772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C6978"/>
                </a:solidFill>
              </a:defRPr>
            </a:pPr>
            <a:r>
              <a:rPr>
                <a:latin typeface="Gadugi" panose="020B0502040204020203" pitchFamily="34" charset="0"/>
                <a:ea typeface="Gadugi" panose="020B0502040204020203" pitchFamily="34" charset="0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pic>
        <p:nvPicPr>
          <p:cNvPr id="3" name="Picture 2" descr="3087406e-fe61-44ad-b0da-f0ce26188a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7000" y="109728"/>
            <a:ext cx="1572768" cy="64340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6163097" cy="5078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8355E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July 2025 vs July 2026 Revenue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960120"/>
            <a:ext cx="640912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C6978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July 2025 revenue is reconstructed from the supplied July 2026 revenue and YoY growth rates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9179856"/>
              </p:ext>
            </p:extLst>
          </p:nvPr>
        </p:nvGraphicFramePr>
        <p:xfrm>
          <a:off x="640080" y="1417320"/>
          <a:ext cx="6766560" cy="4526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726679" y="1600200"/>
            <a:ext cx="3566160" cy="1097280"/>
          </a:xfrm>
          <a:prstGeom prst="roundRect">
            <a:avLst/>
          </a:prstGeom>
          <a:solidFill>
            <a:srgbClr val="F4F7FA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726679" y="1600200"/>
            <a:ext cx="73152" cy="1097280"/>
          </a:xfrm>
          <a:prstGeom prst="rect">
            <a:avLst/>
          </a:prstGeom>
          <a:solidFill>
            <a:srgbClr val="18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955279" y="1764792"/>
            <a:ext cx="2372765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5C6978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JUL 2025 IMPLIED PORTFOLIO REVENUE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1917674"/>
            <a:ext cx="2081019" cy="4462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232A32"/>
                </a:solidFill>
              </a:defRPr>
            </a:pPr>
            <a:r>
              <a:rPr b="1" dirty="0">
                <a:latin typeface="Gadugi" panose="020B0502040204020203" pitchFamily="34" charset="0"/>
                <a:ea typeface="Gadugi" panose="020B0502040204020203" pitchFamily="34" charset="0"/>
              </a:rPr>
              <a:t>₹10,090.34 Cr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2286000"/>
            <a:ext cx="1843774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C6978"/>
                </a:solidFill>
              </a:defRPr>
            </a:pPr>
            <a:r>
              <a:rPr b="1" dirty="0">
                <a:latin typeface="Gadugi" panose="020B0502040204020203" pitchFamily="34" charset="0"/>
                <a:ea typeface="Gadugi" panose="020B0502040204020203" pitchFamily="34" charset="0"/>
              </a:rPr>
              <a:t>Derived from supplied YoY rates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2926080"/>
            <a:ext cx="3566160" cy="1097280"/>
          </a:xfrm>
          <a:prstGeom prst="roundRect">
            <a:avLst/>
          </a:prstGeom>
          <a:solidFill>
            <a:srgbClr val="F4F7FA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726679" y="2926080"/>
            <a:ext cx="73152" cy="1097280"/>
          </a:xfrm>
          <a:prstGeom prst="rect">
            <a:avLst/>
          </a:prstGeom>
          <a:solidFill>
            <a:srgbClr val="00A7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955279" y="3090672"/>
            <a:ext cx="1880643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5C6978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JUL 2026 PORTFOLIO REVENUE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3254237"/>
            <a:ext cx="2081019" cy="4462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232A32"/>
                </a:solidFill>
              </a:defRPr>
            </a:pPr>
            <a:r>
              <a:rPr b="1" dirty="0">
                <a:latin typeface="Gadugi" panose="020B0502040204020203" pitchFamily="34" charset="0"/>
                <a:ea typeface="Gadugi" panose="020B0502040204020203" pitchFamily="34" charset="0"/>
              </a:rPr>
              <a:t>₹13,257.63 Cr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3611880"/>
            <a:ext cx="1527982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C6978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Actual figure in workbook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26679" y="4251960"/>
            <a:ext cx="3566160" cy="1097280"/>
          </a:xfrm>
          <a:prstGeom prst="roundRect">
            <a:avLst/>
          </a:prstGeom>
          <a:solidFill>
            <a:srgbClr val="F4F7FA"/>
          </a:solidFill>
          <a:ln>
            <a:solidFill>
              <a:srgbClr val="E0E5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7726679" y="4251960"/>
            <a:ext cx="73152" cy="1097280"/>
          </a:xfrm>
          <a:prstGeom prst="rect">
            <a:avLst/>
          </a:prstGeom>
          <a:solidFill>
            <a:srgbClr val="2984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955279" y="4416552"/>
            <a:ext cx="1898277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5C6978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IMPLIED AGGREGATE GROWTH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4579242"/>
            <a:ext cx="1200970" cy="4462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232A32"/>
                </a:solidFill>
              </a:defRPr>
            </a:pPr>
            <a:r>
              <a:rPr b="1" dirty="0">
                <a:latin typeface="Gadugi" panose="020B0502040204020203" pitchFamily="34" charset="0"/>
                <a:ea typeface="Gadugi" panose="020B0502040204020203" pitchFamily="34" charset="0"/>
              </a:rPr>
              <a:t>31.39%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4937760"/>
            <a:ext cx="2472152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C6978"/>
                </a:solidFill>
              </a:defRPr>
            </a:pPr>
            <a:r>
              <a:rPr b="1" dirty="0">
                <a:latin typeface="Gadugi" panose="020B0502040204020203" pitchFamily="34" charset="0"/>
                <a:ea typeface="Gadugi" panose="020B0502040204020203" pitchFamily="34" charset="0"/>
              </a:rPr>
              <a:t>Weighted from reconstructed OEM revenues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71547" y="6271757"/>
            <a:ext cx="8488221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C6978"/>
                </a:solidFill>
              </a:defRPr>
            </a:pPr>
            <a:r>
              <a:rPr b="1" dirty="0">
                <a:latin typeface="Gadugi" panose="020B0502040204020203" pitchFamily="34" charset="0"/>
                <a:ea typeface="Gadugi" panose="020B0502040204020203" pitchFamily="34" charset="0"/>
              </a:rPr>
              <a:t>Important: July 2025 figures are not raw historical inputs in the workbook; they are mathematically implied from the reported July 2026 revenue and YoY growth.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6510528"/>
            <a:ext cx="11201400" cy="10972"/>
          </a:xfrm>
          <a:prstGeom prst="rect">
            <a:avLst/>
          </a:prstGeom>
          <a:solidFill>
            <a:srgbClr val="D7DC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30352" y="6547104"/>
            <a:ext cx="4487126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C6978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Source: Supplied Excel workbook | July 2026 commercial vehicle sales &amp; revenue analysis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68902" y="6528816"/>
            <a:ext cx="243978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C6978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pic>
        <p:nvPicPr>
          <p:cNvPr id="3" name="Picture 2" descr="3087406e-fe61-44ad-b0da-f0ce26188a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7000" y="109728"/>
            <a:ext cx="1572768" cy="64340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2597955" cy="5078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8355E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960120"/>
            <a:ext cx="3831498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C6978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Management-ready interpretation of the supplied data</a:t>
            </a:r>
          </a:p>
        </p:txBody>
      </p:sp>
      <p:sp>
        <p:nvSpPr>
          <p:cNvPr id="6" name="Oval 5"/>
          <p:cNvSpPr/>
          <p:nvPr/>
        </p:nvSpPr>
        <p:spPr>
          <a:xfrm>
            <a:off x="658368" y="1362456"/>
            <a:ext cx="201168" cy="201168"/>
          </a:xfrm>
          <a:prstGeom prst="ellipse">
            <a:avLst/>
          </a:prstGeom>
          <a:solidFill>
            <a:srgbClr val="00A7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87552" y="1325880"/>
            <a:ext cx="5928226" cy="45397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8355E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Tata Motors leads the portfolio</a:t>
            </a:r>
          </a:p>
          <a:p>
            <a:pPr>
              <a:defRPr sz="1050">
                <a:solidFill>
                  <a:srgbClr val="232A32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₹7,333.59 Cr revenue and 39,641 units sold, representing the largest absolute contribution.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2167128"/>
            <a:ext cx="201168" cy="201168"/>
          </a:xfrm>
          <a:prstGeom prst="ellipse">
            <a:avLst/>
          </a:prstGeom>
          <a:solidFill>
            <a:srgbClr val="00A7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87552" y="2130552"/>
            <a:ext cx="4525598" cy="45397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8355E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All four OEMs delivered positive YoY revenue growth</a:t>
            </a:r>
          </a:p>
          <a:p>
            <a:pPr>
              <a:defRPr sz="1050">
                <a:solidFill>
                  <a:srgbClr val="232A32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Growth ranges from 14.2% for BharatBenz to 36.9% for Tata Motors.</a:t>
            </a:r>
          </a:p>
        </p:txBody>
      </p:sp>
      <p:sp>
        <p:nvSpPr>
          <p:cNvPr id="10" name="Oval 9"/>
          <p:cNvSpPr/>
          <p:nvPr/>
        </p:nvSpPr>
        <p:spPr>
          <a:xfrm>
            <a:off x="658368" y="2971800"/>
            <a:ext cx="201168" cy="201168"/>
          </a:xfrm>
          <a:prstGeom prst="ellipse">
            <a:avLst/>
          </a:prstGeom>
          <a:solidFill>
            <a:srgbClr val="00A7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87552" y="2935224"/>
            <a:ext cx="5982728" cy="45397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8355E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Three OEMs exceeded revenue target</a:t>
            </a:r>
          </a:p>
          <a:p>
            <a:pPr>
              <a:defRPr sz="1050">
                <a:solidFill>
                  <a:srgbClr val="232A32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Tata Motors (+3.29%), Eicher (VECV) (+2.69%) and BharatBenz (+5.58%) were above target.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3776472"/>
            <a:ext cx="201168" cy="201168"/>
          </a:xfrm>
          <a:prstGeom prst="ellipse">
            <a:avLst/>
          </a:prstGeom>
          <a:solidFill>
            <a:srgbClr val="00A7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87552" y="3739896"/>
            <a:ext cx="4112023" cy="45397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8355E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Ashok Leyland is the only target miss</a:t>
            </a:r>
          </a:p>
          <a:p>
            <a:pPr>
              <a:defRPr sz="1050">
                <a:solidFill>
                  <a:srgbClr val="232A32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Revenue of ₹4,113.90 Cr was 3.20% below its ₹4,250 Cr target.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4581144"/>
            <a:ext cx="201168" cy="201168"/>
          </a:xfrm>
          <a:prstGeom prst="ellipse">
            <a:avLst/>
          </a:prstGeom>
          <a:solidFill>
            <a:srgbClr val="00A7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987552" y="4544568"/>
            <a:ext cx="6017994" cy="45397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8355E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Portfolio is above target overall</a:t>
            </a:r>
          </a:p>
          <a:p>
            <a:pPr>
              <a:defRPr sz="1050">
                <a:solidFill>
                  <a:srgbClr val="232A32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Total revenue of ₹13,257.63 Cr is ₹157.63 Cr above the ₹13,100 Cr target, a +1.20% variance.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5385816"/>
            <a:ext cx="201168" cy="201168"/>
          </a:xfrm>
          <a:prstGeom prst="ellipse">
            <a:avLst/>
          </a:prstGeom>
          <a:solidFill>
            <a:srgbClr val="00A7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987552" y="5349240"/>
            <a:ext cx="6014788" cy="45397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8355E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Pricing differs materially by OEM</a:t>
            </a:r>
          </a:p>
          <a:p>
            <a:pPr>
              <a:defRPr sz="1050">
                <a:solidFill>
                  <a:srgbClr val="232A32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BharatBenz has the highest ASP at ₹28.5 Lakh/unit; Eicher has the lowest at ₹16.2 Lakh/unit.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6510528"/>
            <a:ext cx="11201400" cy="10972"/>
          </a:xfrm>
          <a:prstGeom prst="rect">
            <a:avLst/>
          </a:prstGeom>
          <a:solidFill>
            <a:srgbClr val="D7DC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30352" y="6547104"/>
            <a:ext cx="4487126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C6978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Source: Supplied Excel workbook | July 2026 commercial vehicle sales &amp; revenue analysis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68902" y="6528816"/>
            <a:ext cx="243978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C6978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pic>
        <p:nvPicPr>
          <p:cNvPr id="3" name="Picture 2" descr="3087406e-fe61-44ad-b0da-f0ce26188a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7000" y="109728"/>
            <a:ext cx="1572768" cy="64340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4303037" cy="5078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8355E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Data &amp; Calculation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960120"/>
            <a:ext cx="3571812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C6978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Definitions aligned to the supplied Excel workbook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85953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8355E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Units Sold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71800" y="1371600"/>
            <a:ext cx="2890535" cy="2539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232A32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Commercial vehicle units sold in July 2026.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38528"/>
            <a:ext cx="449162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8355E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ASP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1800" y="1938528"/>
            <a:ext cx="2696572" cy="2539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232A32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Average Selling Price in ₹ Lakh per unit.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505456"/>
            <a:ext cx="113204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8355E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Total Revenue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2505456"/>
            <a:ext cx="3300904" cy="2539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232A32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Revenue in ₹ Crore, as provided in the workbook.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72384"/>
            <a:ext cx="1225015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8355E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Target Revenue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3072384"/>
            <a:ext cx="1835759" cy="2539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232A32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Revenue target in ₹ Crore.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639312"/>
            <a:ext cx="136287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8355E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Revenue Variance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3639312"/>
            <a:ext cx="3586238" cy="2539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232A32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(Actual Revenue − Target Revenue) / Target Revenue.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206240"/>
            <a:ext cx="158248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8355E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YoY Revenue Growth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71800" y="4206240"/>
            <a:ext cx="4410182" cy="2539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232A32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Year-over-year revenue growth percentage supplied for each OEM.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773168"/>
            <a:ext cx="164981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8355E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Portfolio Avg. Growth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71800" y="4773168"/>
            <a:ext cx="3828292" cy="2539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232A32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Simple average of the four OEM YoY growth percentages.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340096"/>
            <a:ext cx="1850186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8355E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Jul 2025 implied revenue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800" y="5340096"/>
            <a:ext cx="6638356" cy="2539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232A32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Calculated as Jul 2026 revenue / (1 + YoY growth). This is a derived comparison, not a raw Excel input.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510528"/>
            <a:ext cx="11201400" cy="10972"/>
          </a:xfrm>
          <a:prstGeom prst="rect">
            <a:avLst/>
          </a:prstGeom>
          <a:solidFill>
            <a:srgbClr val="D7DC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latin typeface="Gadugi" panose="020B0502040204020203" pitchFamily="34" charset="0"/>
              <a:ea typeface="Gadugi" panose="020B0502040204020203" pitchFamily="34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30352" y="6547104"/>
            <a:ext cx="4487126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C6978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Source: Supplied Excel workbook | July 2026 commercial vehicle sales &amp; revenue analysis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68902" y="6528816"/>
            <a:ext cx="243978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C6978"/>
                </a:solidFill>
              </a:defRPr>
            </a:pPr>
            <a:r>
              <a:rPr b="1">
                <a:latin typeface="Gadugi" panose="020B0502040204020203" pitchFamily="34" charset="0"/>
                <a:ea typeface="Gadugi" panose="020B0502040204020203" pitchFamily="34" charset="0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862</Words>
  <Application>Microsoft Office PowerPoint</Application>
  <PresentationFormat>Widescreen</PresentationFormat>
  <Paragraphs>175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Gadugi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Siddharth Burman</cp:lastModifiedBy>
  <cp:revision>2</cp:revision>
  <dcterms:created xsi:type="dcterms:W3CDTF">2013-01-27T09:14:16Z</dcterms:created>
  <dcterms:modified xsi:type="dcterms:W3CDTF">2026-08-29T17:54:01Z</dcterms:modified>
  <cp:category/>
</cp:coreProperties>
</file>