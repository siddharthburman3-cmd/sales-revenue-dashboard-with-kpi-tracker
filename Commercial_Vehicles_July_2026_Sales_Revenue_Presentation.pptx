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660066"/>
    <a:srgbClr val="008080"/>
    <a:srgbClr val="000066"/>
    <a:srgbClr val="00CC99"/>
    <a:srgbClr val="FF66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678" autoAdjust="0"/>
    <p:restoredTop sz="95033" autoAdjust="0"/>
  </p:normalViewPr>
  <p:slideViewPr>
    <p:cSldViewPr snapToGrid="0" snapToObjects="1">
      <p:cViewPr>
        <p:scale>
          <a:sx n="80" d="100"/>
          <a:sy n="80" d="100"/>
        </p:scale>
        <p:origin x="67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pPr>
            <a:r>
              <a:rPr lang="en-IN">
                <a:solidFill>
                  <a:schemeClr val="bg1"/>
                </a:solidFill>
              </a:rPr>
              <a:t>Revenue by OEM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Gadugi" panose="020B0502040204020203" pitchFamily="34" charset="0"/>
              <a:ea typeface="Gadugi" panose="020B0502040204020203" pitchFamily="34" charset="0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00B0F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9791-4037-AC44-ACB58A52E0F8}"/>
              </c:ext>
            </c:extLst>
          </c:dPt>
          <c:dPt>
            <c:idx val="1"/>
            <c:invertIfNegative val="1"/>
            <c:bubble3D val="0"/>
            <c:spPr>
              <a:solidFill>
                <a:srgbClr val="FF000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9791-4037-AC44-ACB58A52E0F8}"/>
              </c:ext>
            </c:extLst>
          </c:dPt>
          <c:dPt>
            <c:idx val="2"/>
            <c:invertIfNegative val="1"/>
            <c:bubble3D val="0"/>
            <c:spPr>
              <a:solidFill>
                <a:srgbClr val="92D05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5-9791-4037-AC44-ACB58A52E0F8}"/>
              </c:ext>
            </c:extLst>
          </c:dPt>
          <c:dPt>
            <c:idx val="3"/>
            <c:invertIfNegative val="1"/>
            <c:bubble3D val="0"/>
            <c:spPr>
              <a:solidFill>
                <a:srgbClr val="7030A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9791-4037-AC44-ACB58A52E0F8}"/>
              </c:ext>
            </c:extLst>
          </c:dPt>
          <c:cat>
            <c:strRef>
              <c:f>Sheet1!$A$2:$A$5</c:f>
              <c:strCache>
                <c:ptCount val="4"/>
                <c:pt idx="0">
                  <c:v>Tata Motors</c:v>
                </c:pt>
                <c:pt idx="1">
                  <c:v>Ashok Leyland</c:v>
                </c:pt>
                <c:pt idx="2">
                  <c:v>Eicher</c:v>
                </c:pt>
                <c:pt idx="3">
                  <c:v>BharatBenz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7333.59</c:v>
                </c:pt>
                <c:pt idx="1">
                  <c:v>4113.8999999999996</c:v>
                </c:pt>
                <c:pt idx="2">
                  <c:v>1335.04</c:v>
                </c:pt>
                <c:pt idx="3">
                  <c:v>475.1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90-470A-A938-38A568E335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cap="all" baseline="0">
                    <a:solidFill>
                      <a:schemeClr val="bg1"/>
                    </a:solidFill>
                    <a:latin typeface="Gadugi" panose="020B0502040204020203" pitchFamily="34" charset="0"/>
                    <a:ea typeface="Gadugi" panose="020B0502040204020203" pitchFamily="34" charset="0"/>
                    <a:cs typeface="+mn-cs"/>
                  </a:defRPr>
                </a:pPr>
                <a:r>
                  <a:rPr lang="en-IN" sz="1400" dirty="0">
                    <a:solidFill>
                      <a:schemeClr val="bg1"/>
                    </a:solidFill>
                  </a:rPr>
                  <a:t>OEM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cap="all" baseline="0">
                  <a:solidFill>
                    <a:schemeClr val="bg1"/>
                  </a:solidFill>
                  <a:latin typeface="Gadugi" panose="020B0502040204020203" pitchFamily="34" charset="0"/>
                  <a:ea typeface="Gadugi" panose="020B0502040204020203" pitchFamily="34" charset="0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 w="12700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cap="all" baseline="0">
                    <a:solidFill>
                      <a:schemeClr val="bg1"/>
                    </a:solidFill>
                    <a:latin typeface="Gadugi" panose="020B0502040204020203" pitchFamily="34" charset="0"/>
                    <a:ea typeface="Gadugi" panose="020B0502040204020203" pitchFamily="34" charset="0"/>
                    <a:cs typeface="+mn-cs"/>
                  </a:defRPr>
                </a:pPr>
                <a:r>
                  <a:rPr lang="en-IN" sz="1400" dirty="0">
                    <a:solidFill>
                      <a:schemeClr val="bg1"/>
                    </a:solidFill>
                  </a:rPr>
                  <a:t>REVENUE (in ₹ Cr.)</a:t>
                </a:r>
              </a:p>
            </c:rich>
          </c:tx>
          <c:layout>
            <c:manualLayout>
              <c:xMode val="edge"/>
              <c:yMode val="edge"/>
              <c:x val="7.9294875374620721E-3"/>
              <c:y val="0.1809121826499968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cap="all" baseline="0">
                  <a:solidFill>
                    <a:schemeClr val="bg1"/>
                  </a:solidFill>
                  <a:latin typeface="Gadugi" panose="020B0502040204020203" pitchFamily="34" charset="0"/>
                  <a:ea typeface="Gadugi" panose="020B0502040204020203" pitchFamily="34" charset="0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bg1"/>
              </a:solidFill>
              <a:latin typeface="Gadugi" panose="020B0502040204020203" pitchFamily="34" charset="0"/>
              <a:ea typeface="Gadugi" panose="020B0502040204020203" pitchFamily="34" charset="0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solidFill>
      <a:schemeClr val="tx1"/>
    </a:solidFill>
    <a:ln>
      <a:noFill/>
    </a:ln>
    <a:effectLst/>
  </c:spPr>
  <c:txPr>
    <a:bodyPr/>
    <a:lstStyle/>
    <a:p>
      <a:pPr>
        <a:defRPr b="1">
          <a:latin typeface="Gadugi" panose="020B0502040204020203" pitchFamily="34" charset="0"/>
          <a:ea typeface="Gadugi" panose="020B0502040204020203" pitchFamily="34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bg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pPr>
            <a:r>
              <a:rPr lang="en-IN">
                <a:solidFill>
                  <a:schemeClr val="bg1"/>
                </a:solidFill>
                <a:effectLst/>
              </a:rPr>
              <a:t>Actual vs Target Revenue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Actual Revenue (₹ Cr)</c:v>
                </c:pt>
              </c:strCache>
            </c:strRef>
          </c:tx>
          <c:spPr>
            <a:solidFill>
              <a:srgbClr val="0000FF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1"/>
          <c:cat>
            <c:strRef>
              <c:f>Sheet1!$A$2:$A$5</c:f>
              <c:strCache>
                <c:ptCount val="4"/>
                <c:pt idx="0">
                  <c:v>Tata Motors</c:v>
                </c:pt>
                <c:pt idx="1">
                  <c:v>Ashok Leyland</c:v>
                </c:pt>
                <c:pt idx="2">
                  <c:v>Eicher</c:v>
                </c:pt>
                <c:pt idx="3">
                  <c:v>BharatBenz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7333.59</c:v>
                </c:pt>
                <c:pt idx="1">
                  <c:v>4113.8999999999996</c:v>
                </c:pt>
                <c:pt idx="2">
                  <c:v>1335.04</c:v>
                </c:pt>
                <c:pt idx="3">
                  <c:v>475.1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00B050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">
                      <a:rot lat="0" lon="0" rev="1200000"/>
                    </a:lightRig>
                  </a:scene3d>
                  <a:sp3d>
                    <a:bevelT w="63500" h="25400"/>
                  </a:sp3d>
                </c14:spPr>
              </c14:invertSolidFillFmt>
            </c:ext>
            <c:ext xmlns:c16="http://schemas.microsoft.com/office/drawing/2014/chart" uri="{C3380CC4-5D6E-409C-BE32-E72D297353CC}">
              <c16:uniqueId val="{00000000-5ECF-47C6-B372-22213EE6DB1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 Revenue (₹ Cr)</c:v>
                </c:pt>
              </c:strCache>
            </c:strRef>
          </c:tx>
          <c:spPr>
            <a:solidFill>
              <a:srgbClr val="FF660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1"/>
          <c:cat>
            <c:strRef>
              <c:f>Sheet1!$A$2:$A$5</c:f>
              <c:strCache>
                <c:ptCount val="4"/>
                <c:pt idx="0">
                  <c:v>Tata Motors</c:v>
                </c:pt>
                <c:pt idx="1">
                  <c:v>Ashok Leyland</c:v>
                </c:pt>
                <c:pt idx="2">
                  <c:v>Eicher</c:v>
                </c:pt>
                <c:pt idx="3">
                  <c:v>BharatBenz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7100</c:v>
                </c:pt>
                <c:pt idx="1">
                  <c:v>4250</c:v>
                </c:pt>
                <c:pt idx="2">
                  <c:v>1300</c:v>
                </c:pt>
                <c:pt idx="3">
                  <c:v>450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0000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">
                      <a:rot lat="0" lon="0" rev="1200000"/>
                    </a:lightRig>
                  </a:scene3d>
                  <a:sp3d>
                    <a:bevelT w="63500" h="25400"/>
                  </a:sp3d>
                </c14:spPr>
              </c14:invertSolidFillFmt>
            </c:ext>
            <c:ext xmlns:c16="http://schemas.microsoft.com/office/drawing/2014/chart" uri="{C3380CC4-5D6E-409C-BE32-E72D297353CC}">
              <c16:uniqueId val="{00000001-5ECF-47C6-B372-22213EE6DB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IN" sz="1400" dirty="0">
                    <a:solidFill>
                      <a:schemeClr val="bg1"/>
                    </a:solidFill>
                  </a:rPr>
                  <a:t>OEM</a:t>
                </a:r>
              </a:p>
            </c:rich>
          </c:tx>
          <c:overlay val="0"/>
          <c:spPr>
            <a:ln>
              <a:noFill/>
            </a:ln>
          </c:sp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title>
          <c:tx>
            <c:rich>
              <a:bodyPr/>
              <a:lstStyle/>
              <a:p>
                <a:pPr>
                  <a:defRPr sz="1400"/>
                </a:pPr>
                <a:r>
                  <a:rPr lang="en-IN" sz="1400" dirty="0">
                    <a:solidFill>
                      <a:schemeClr val="bg1"/>
                    </a:solidFill>
                  </a:rPr>
                  <a:t>ACTUAL/TOTAL</a:t>
                </a:r>
                <a:r>
                  <a:rPr lang="en-IN" sz="1400" baseline="0" dirty="0">
                    <a:solidFill>
                      <a:schemeClr val="bg1"/>
                    </a:solidFill>
                  </a:rPr>
                  <a:t> REVENUE (IN ₹ CR.)</a:t>
                </a:r>
                <a:endParaRPr lang="en-IN" sz="1400" dirty="0">
                  <a:solidFill>
                    <a:schemeClr val="bg1"/>
                  </a:solidFill>
                </a:endParaRPr>
              </a:p>
            </c:rich>
          </c:tx>
          <c:layout>
            <c:manualLayout>
              <c:xMode val="edge"/>
              <c:yMode val="edge"/>
              <c:x val="1.3503086419753086E-2"/>
              <c:y val="0.1018281196993233"/>
            </c:manualLayout>
          </c:layout>
          <c:overlay val="0"/>
          <c:spPr>
            <a:ln>
              <a:noFill/>
            </a:ln>
          </c:spPr>
        </c:title>
        <c:numFmt formatCode="0" sourceLinked="0"/>
        <c:majorTickMark val="out"/>
        <c:minorTickMark val="none"/>
        <c:tickLblPos val="nextTo"/>
        <c:spPr>
          <a:solidFill>
            <a:schemeClr val="tx1"/>
          </a:solidFill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bg1"/>
              </a:solidFill>
              <a:latin typeface="Gadugi" panose="020B0502040204020203" pitchFamily="34" charset="0"/>
              <a:ea typeface="Gadugi" panose="020B0502040204020203" pitchFamily="34" charset="0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solidFill>
      <a:schemeClr val="tx1"/>
    </a:solidFill>
    <a:ln>
      <a:noFill/>
    </a:ln>
    <a:effectLst/>
  </c:spPr>
  <c:txPr>
    <a:bodyPr/>
    <a:lstStyle/>
    <a:p>
      <a:pPr>
        <a:defRPr b="1">
          <a:latin typeface="Gadugi" panose="020B0502040204020203" pitchFamily="34" charset="0"/>
          <a:ea typeface="Gadugi" panose="020B0502040204020203" pitchFamily="34" charset="0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bg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pPr>
            <a:r>
              <a:rPr lang="en-IN">
                <a:solidFill>
                  <a:schemeClr val="bg1"/>
                </a:solidFill>
                <a:effectLst/>
              </a:rPr>
              <a:t>July 2026 Units Sold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bg1"/>
              </a:solidFill>
              <a:effectLst/>
              <a:latin typeface="Gadugi" panose="020B0502040204020203" pitchFamily="34" charset="0"/>
              <a:ea typeface="Gadugi" panose="020B0502040204020203" pitchFamily="34" charset="0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00B0F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F6EF-41CB-9872-7FF1FE852651}"/>
              </c:ext>
            </c:extLst>
          </c:dPt>
          <c:dPt>
            <c:idx val="1"/>
            <c:invertIfNegative val="1"/>
            <c:bubble3D val="0"/>
            <c:spPr>
              <a:solidFill>
                <a:srgbClr val="FF000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F6EF-41CB-9872-7FF1FE852651}"/>
              </c:ext>
            </c:extLst>
          </c:dPt>
          <c:dPt>
            <c:idx val="2"/>
            <c:invertIfNegative val="1"/>
            <c:bubble3D val="0"/>
            <c:spPr>
              <a:solidFill>
                <a:srgbClr val="92D05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5-F6EF-41CB-9872-7FF1FE852651}"/>
              </c:ext>
            </c:extLst>
          </c:dPt>
          <c:dPt>
            <c:idx val="3"/>
            <c:invertIfNegative val="1"/>
            <c:bubble3D val="0"/>
            <c:spPr>
              <a:solidFill>
                <a:srgbClr val="7030A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F6EF-41CB-9872-7FF1FE85265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Gadugi" panose="020B0502040204020203" pitchFamily="34" charset="0"/>
                    <a:ea typeface="Gadugi" panose="020B0502040204020203" pitchFamily="34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Tata Motors</c:v>
                </c:pt>
                <c:pt idx="1">
                  <c:v>Ashok Leyland</c:v>
                </c:pt>
                <c:pt idx="2">
                  <c:v>Eicher</c:v>
                </c:pt>
                <c:pt idx="3">
                  <c:v>BharatBenz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39641</c:v>
                </c:pt>
                <c:pt idx="1">
                  <c:v>19590</c:v>
                </c:pt>
                <c:pt idx="2">
                  <c:v>8241</c:v>
                </c:pt>
                <c:pt idx="3">
                  <c:v>1667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64-47A6-8354-AB33BE43CB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#,##0" sourceLinked="0"/>
        <c:majorTickMark val="none"/>
        <c:minorTickMark val="none"/>
        <c:tickLblPos val="nextTo"/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bg1"/>
              </a:solidFill>
              <a:latin typeface="Gadugi" panose="020B0502040204020203" pitchFamily="34" charset="0"/>
              <a:ea typeface="Gadugi" panose="020B0502040204020203" pitchFamily="34" charset="0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solidFill>
      <a:schemeClr val="tx1"/>
    </a:solidFill>
    <a:ln>
      <a:noFill/>
    </a:ln>
    <a:effectLst/>
  </c:spPr>
  <c:txPr>
    <a:bodyPr/>
    <a:lstStyle/>
    <a:p>
      <a:pPr>
        <a:defRPr b="1">
          <a:latin typeface="Gadugi" panose="020B0502040204020203" pitchFamily="34" charset="0"/>
          <a:ea typeface="Gadugi" panose="020B0502040204020203" pitchFamily="34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bg1"/>
                </a:solidFill>
                <a:effectLst/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pPr>
            <a:r>
              <a:rPr lang="en-IN">
                <a:solidFill>
                  <a:schemeClr val="bg1"/>
                </a:solidFill>
                <a:effectLst/>
              </a:rPr>
              <a:t>Average Selling Price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bg1"/>
              </a:solidFill>
              <a:effectLst/>
              <a:latin typeface="Gadugi" panose="020B0502040204020203" pitchFamily="34" charset="0"/>
              <a:ea typeface="Gadugi" panose="020B0502040204020203" pitchFamily="34" charset="0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ASP (₹ Lakh / Unit)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00B0F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EAE8-48DF-8108-6E2BDDC0F2D0}"/>
              </c:ext>
            </c:extLst>
          </c:dPt>
          <c:dPt>
            <c:idx val="1"/>
            <c:invertIfNegative val="1"/>
            <c:bubble3D val="0"/>
            <c:spPr>
              <a:solidFill>
                <a:srgbClr val="FF000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EAE8-48DF-8108-6E2BDDC0F2D0}"/>
              </c:ext>
            </c:extLst>
          </c:dPt>
          <c:dPt>
            <c:idx val="2"/>
            <c:invertIfNegative val="1"/>
            <c:bubble3D val="0"/>
            <c:spPr>
              <a:solidFill>
                <a:srgbClr val="92D05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5-EAE8-48DF-8108-6E2BDDC0F2D0}"/>
              </c:ext>
            </c:extLst>
          </c:dPt>
          <c:dPt>
            <c:idx val="3"/>
            <c:invertIfNegative val="1"/>
            <c:bubble3D val="0"/>
            <c:spPr>
              <a:solidFill>
                <a:srgbClr val="7030A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EAE8-48DF-8108-6E2BDDC0F2D0}"/>
              </c:ext>
            </c:extLst>
          </c:dPt>
          <c:cat>
            <c:strRef>
              <c:f>Sheet1!$A$2:$A$5</c:f>
              <c:strCache>
                <c:ptCount val="4"/>
                <c:pt idx="0">
                  <c:v>Tata Motors</c:v>
                </c:pt>
                <c:pt idx="1">
                  <c:v>Ashok Leyland</c:v>
                </c:pt>
                <c:pt idx="2">
                  <c:v>Eicher</c:v>
                </c:pt>
                <c:pt idx="3">
                  <c:v>BharatBenz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18.5</c:v>
                </c:pt>
                <c:pt idx="1">
                  <c:v>21</c:v>
                </c:pt>
                <c:pt idx="2">
                  <c:v>16.2</c:v>
                </c:pt>
                <c:pt idx="3">
                  <c:v>28.5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8D-4AF4-9E27-BFB8077EE9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cap="all" baseline="0">
                    <a:solidFill>
                      <a:schemeClr val="bg1"/>
                    </a:solidFill>
                    <a:latin typeface="Gadugi" panose="020B0502040204020203" pitchFamily="34" charset="0"/>
                    <a:ea typeface="Gadugi" panose="020B0502040204020203" pitchFamily="34" charset="0"/>
                    <a:cs typeface="+mn-cs"/>
                  </a:defRPr>
                </a:pPr>
                <a:r>
                  <a:rPr lang="en-IN" sz="1400" dirty="0">
                    <a:solidFill>
                      <a:schemeClr val="bg1"/>
                    </a:solidFill>
                  </a:rPr>
                  <a:t>OEM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cap="all" baseline="0">
                  <a:solidFill>
                    <a:schemeClr val="bg1"/>
                  </a:solidFill>
                  <a:latin typeface="Gadugi" panose="020B0502040204020203" pitchFamily="34" charset="0"/>
                  <a:ea typeface="Gadugi" panose="020B0502040204020203" pitchFamily="34" charset="0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 w="12700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cap="all" baseline="0">
                    <a:solidFill>
                      <a:schemeClr val="bg1"/>
                    </a:solidFill>
                    <a:latin typeface="Gadugi" panose="020B0502040204020203" pitchFamily="34" charset="0"/>
                    <a:ea typeface="Gadugi" panose="020B0502040204020203" pitchFamily="34" charset="0"/>
                    <a:cs typeface="+mn-cs"/>
                  </a:defRPr>
                </a:pPr>
                <a:r>
                  <a:rPr lang="en-IN" sz="1400" dirty="0">
                    <a:solidFill>
                      <a:schemeClr val="bg1"/>
                    </a:solidFill>
                  </a:rPr>
                  <a:t>Average</a:t>
                </a:r>
                <a:r>
                  <a:rPr lang="en-IN" sz="1400" baseline="0" dirty="0">
                    <a:solidFill>
                      <a:schemeClr val="bg1"/>
                    </a:solidFill>
                  </a:rPr>
                  <a:t> SP (₹ LAKH)</a:t>
                </a:r>
                <a:endParaRPr lang="en-IN" sz="1400" dirty="0">
                  <a:solidFill>
                    <a:schemeClr val="bg1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cap="all" baseline="0">
                  <a:solidFill>
                    <a:schemeClr val="bg1"/>
                  </a:solidFill>
                  <a:latin typeface="Gadugi" panose="020B0502040204020203" pitchFamily="34" charset="0"/>
                  <a:ea typeface="Gadugi" panose="020B0502040204020203" pitchFamily="34" charset="0"/>
                  <a:cs typeface="+mn-cs"/>
                </a:defRPr>
              </a:pPr>
              <a:endParaRPr lang="en-US"/>
            </a:p>
          </c:txPr>
        </c:title>
        <c:numFmt formatCode="0.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lt1">
                    <a:lumMod val="85000"/>
                  </a:schemeClr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bg1"/>
              </a:solidFill>
              <a:latin typeface="Gadugi" panose="020B0502040204020203" pitchFamily="34" charset="0"/>
              <a:ea typeface="Gadugi" panose="020B0502040204020203" pitchFamily="34" charset="0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solidFill>
      <a:schemeClr val="tx1"/>
    </a:solidFill>
    <a:ln>
      <a:noFill/>
    </a:ln>
    <a:effectLst/>
  </c:spPr>
  <c:txPr>
    <a:bodyPr/>
    <a:lstStyle/>
    <a:p>
      <a:pPr>
        <a:defRPr b="1">
          <a:latin typeface="Gadugi" panose="020B0502040204020203" pitchFamily="34" charset="0"/>
          <a:ea typeface="Gadugi" panose="020B0502040204020203" pitchFamily="34" charset="0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pPr>
            <a:r>
              <a:rPr lang="en-IN">
                <a:solidFill>
                  <a:schemeClr val="bg1"/>
                </a:solidFill>
              </a:rPr>
              <a:t>YoY Revenue Growth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Gadugi" panose="020B0502040204020203" pitchFamily="34" charset="0"/>
              <a:ea typeface="Gadugi" panose="020B0502040204020203" pitchFamily="34" charset="0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YoY Growth (%)</c:v>
                </c:pt>
              </c:strCache>
            </c:strRef>
          </c:tx>
          <c:spPr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00B0F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1F9B-4F12-ADEB-616071C5E622}"/>
              </c:ext>
            </c:extLst>
          </c:dPt>
          <c:dPt>
            <c:idx val="1"/>
            <c:invertIfNegative val="1"/>
            <c:bubble3D val="0"/>
            <c:spPr>
              <a:solidFill>
                <a:srgbClr val="FF000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1F9B-4F12-ADEB-616071C5E622}"/>
              </c:ext>
            </c:extLst>
          </c:dPt>
          <c:dPt>
            <c:idx val="2"/>
            <c:invertIfNegative val="1"/>
            <c:bubble3D val="0"/>
            <c:spPr>
              <a:solidFill>
                <a:srgbClr val="92D05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5-1F9B-4F12-ADEB-616071C5E622}"/>
              </c:ext>
            </c:extLst>
          </c:dPt>
          <c:dPt>
            <c:idx val="3"/>
            <c:invertIfNegative val="1"/>
            <c:bubble3D val="0"/>
            <c:spPr>
              <a:solidFill>
                <a:srgbClr val="7030A0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1F9B-4F12-ADEB-616071C5E622}"/>
              </c:ext>
            </c:extLst>
          </c:dPt>
          <c:cat>
            <c:strRef>
              <c:f>Sheet1!$A$2:$A$5</c:f>
              <c:strCache>
                <c:ptCount val="4"/>
                <c:pt idx="0">
                  <c:v>Tata Motors</c:v>
                </c:pt>
                <c:pt idx="1">
                  <c:v>Ashok Leyland</c:v>
                </c:pt>
                <c:pt idx="2">
                  <c:v>Eicher</c:v>
                </c:pt>
                <c:pt idx="3">
                  <c:v>BharatBenz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36.9</c:v>
                </c:pt>
                <c:pt idx="1">
                  <c:v>30</c:v>
                </c:pt>
                <c:pt idx="2">
                  <c:v>15.8</c:v>
                </c:pt>
                <c:pt idx="3">
                  <c:v>14.2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F9B-4F12-ADEB-616071C5E6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pPr>
            <a:endParaRPr lang="en-US"/>
          </a:p>
        </c:txPr>
        <c:crossAx val="-2113994440"/>
        <c:crossesAt val="0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bg1"/>
                    </a:solidFill>
                    <a:latin typeface="Gadugi" panose="020B0502040204020203" pitchFamily="34" charset="0"/>
                    <a:ea typeface="Gadugi" panose="020B0502040204020203" pitchFamily="34" charset="0"/>
                    <a:cs typeface="+mn-cs"/>
                  </a:defRPr>
                </a:pPr>
                <a:r>
                  <a:rPr lang="en-IN" dirty="0">
                    <a:solidFill>
                      <a:schemeClr val="bg1"/>
                    </a:solidFill>
                  </a:rPr>
                  <a:t>GROWTH RATE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bg1"/>
                  </a:solidFill>
                  <a:latin typeface="Gadugi" panose="020B0502040204020203" pitchFamily="34" charset="0"/>
                  <a:ea typeface="Gadugi" panose="020B0502040204020203" pitchFamily="34" charset="0"/>
                  <a:cs typeface="+mn-cs"/>
                </a:defRPr>
              </a:pPr>
              <a:endParaRPr lang="en-US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pPr>
            <a:endParaRPr lang="en-US"/>
          </a:p>
        </c:txPr>
        <c:crossAx val="-206802733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bg1"/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1" i="0" u="none" strike="noStrike" kern="1200" baseline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1"/>
  </c:chart>
  <c:spPr>
    <a:solidFill>
      <a:schemeClr val="tx1"/>
    </a:solidFill>
    <a:ln>
      <a:noFill/>
    </a:ln>
    <a:effectLst/>
  </c:spPr>
  <c:txPr>
    <a:bodyPr/>
    <a:lstStyle/>
    <a:p>
      <a:pPr>
        <a:defRPr b="1">
          <a:latin typeface="Gadugi" panose="020B0502040204020203" pitchFamily="34" charset="0"/>
          <a:ea typeface="Gadugi" panose="020B0502040204020203" pitchFamily="34" charset="0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pPr>
            <a:r>
              <a:rPr lang="en-IN">
                <a:solidFill>
                  <a:schemeClr val="bg1"/>
                </a:solidFill>
              </a:rPr>
              <a:t>Revenue Comparison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Jul 2025 implied Revenue (₹ Cr)</c:v>
                </c:pt>
              </c:strCache>
            </c:strRef>
          </c:tx>
          <c:spPr>
            <a:solidFill>
              <a:srgbClr val="00808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1"/>
          <c:cat>
            <c:strRef>
              <c:f>Sheet1!$A$2:$A$5</c:f>
              <c:strCache>
                <c:ptCount val="4"/>
                <c:pt idx="0">
                  <c:v>Tata Motors</c:v>
                </c:pt>
                <c:pt idx="1">
                  <c:v>Ashok Leyland</c:v>
                </c:pt>
                <c:pt idx="2">
                  <c:v>Eicher</c:v>
                </c:pt>
                <c:pt idx="3">
                  <c:v>BharatBenz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5356.895544192842</c:v>
                </c:pt>
                <c:pt idx="1">
                  <c:v>3164.538461538461</c:v>
                </c:pt>
                <c:pt idx="2">
                  <c:v>1152.8842832469777</c:v>
                </c:pt>
                <c:pt idx="3">
                  <c:v>416.02451838879165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4A452A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">
                      <a:rot lat="0" lon="0" rev="1200000"/>
                    </a:lightRig>
                  </a:scene3d>
                  <a:sp3d>
                    <a:bevelT w="63500" h="25400"/>
                  </a:sp3d>
                </c14:spPr>
              </c14:invertSolidFillFmt>
            </c:ext>
            <c:ext xmlns:c16="http://schemas.microsoft.com/office/drawing/2014/chart" uri="{C3380CC4-5D6E-409C-BE32-E72D297353CC}">
              <c16:uniqueId val="{00000000-8D1B-4CD4-9A8F-F08584A7FE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Jul 2026 Revenue (₹ Cr)</c:v>
                </c:pt>
              </c:strCache>
            </c:strRef>
          </c:tx>
          <c:spPr>
            <a:solidFill>
              <a:srgbClr val="660066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1"/>
          <c:cat>
            <c:strRef>
              <c:f>Sheet1!$A$2:$A$5</c:f>
              <c:strCache>
                <c:ptCount val="4"/>
                <c:pt idx="0">
                  <c:v>Tata Motors</c:v>
                </c:pt>
                <c:pt idx="1">
                  <c:v>Ashok Leyland</c:v>
                </c:pt>
                <c:pt idx="2">
                  <c:v>Eicher</c:v>
                </c:pt>
                <c:pt idx="3">
                  <c:v>BharatBenz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7333.59</c:v>
                </c:pt>
                <c:pt idx="1">
                  <c:v>4113.8999999999996</c:v>
                </c:pt>
                <c:pt idx="2">
                  <c:v>1335.04</c:v>
                </c:pt>
                <c:pt idx="3">
                  <c:v>475.1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663300"/>
                  </a:soli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">
                      <a:rot lat="0" lon="0" rev="1200000"/>
                    </a:lightRig>
                  </a:scene3d>
                  <a:sp3d>
                    <a:bevelT w="63500" h="25400"/>
                  </a:sp3d>
                </c14:spPr>
              </c14:invertSolidFillFmt>
            </c:ext>
            <c:ext xmlns:c16="http://schemas.microsoft.com/office/drawing/2014/chart" uri="{C3380CC4-5D6E-409C-BE32-E72D297353CC}">
              <c16:uniqueId val="{00000001-8D1B-4CD4-9A8F-F08584A7FE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</a:schemeClr>
              </a:soli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  <a:cs typeface="+mn-cs"/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bg1"/>
              </a:solidFill>
              <a:latin typeface="Gadugi" panose="020B0502040204020203" pitchFamily="34" charset="0"/>
              <a:ea typeface="Gadugi" panose="020B0502040204020203" pitchFamily="34" charset="0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solidFill>
      <a:schemeClr val="tx1"/>
    </a:solidFill>
    <a:ln>
      <a:noFill/>
    </a:ln>
    <a:effectLst/>
  </c:spPr>
  <c:txPr>
    <a:bodyPr/>
    <a:lstStyle/>
    <a:p>
      <a:pPr>
        <a:defRPr b="1">
          <a:latin typeface="Gadugi" panose="020B0502040204020203" pitchFamily="34" charset="0"/>
          <a:ea typeface="Gadugi" panose="020B0502040204020203" pitchFamily="34" charset="0"/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01-Sep-26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pic>
        <p:nvPicPr>
          <p:cNvPr id="3" name="Picture 2" descr="3087406e-fe61-44ad-b0da-f0ce26188a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109728"/>
            <a:ext cx="1572768" cy="64340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502788" cy="1169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8355E"/>
                </a:solidFill>
              </a:defRPr>
            </a:pPr>
            <a:r>
              <a:rPr b="1">
                <a:latin typeface="Gadugi" panose="020B0502040204020203" pitchFamily="34" charset="0"/>
                <a:ea typeface="Gadugi" panose="020B0502040204020203" pitchFamily="34" charset="0"/>
              </a:rPr>
              <a:t>Commercial Vehicles</a:t>
            </a:r>
          </a:p>
          <a:p>
            <a:pPr>
              <a:defRPr sz="3200" b="1">
                <a:solidFill>
                  <a:srgbClr val="00A7A4"/>
                </a:solidFill>
              </a:defRPr>
            </a:pPr>
            <a:r>
              <a:rPr b="1">
                <a:latin typeface="Gadugi" panose="020B0502040204020203" pitchFamily="34" charset="0"/>
                <a:ea typeface="Gadugi" panose="020B0502040204020203" pitchFamily="34" charset="0"/>
              </a:rPr>
              <a:t>Sales Revenue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52928"/>
            <a:ext cx="5404108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A32"/>
                </a:solidFill>
              </a:defRPr>
            </a:pPr>
            <a:r>
              <a:rPr b="1">
                <a:latin typeface="Gadugi" panose="020B0502040204020203" pitchFamily="34" charset="0"/>
                <a:ea typeface="Gadugi" panose="020B0502040204020203" pitchFamily="34" charset="0"/>
              </a:rPr>
              <a:t>Tata Motors • Ashok Leyland • Eicher (VECV) • BharatBenz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401568"/>
            <a:ext cx="314419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978"/>
                </a:solidFill>
              </a:defRPr>
            </a:pPr>
            <a:r>
              <a:rPr b="1">
                <a:latin typeface="Gadugi" panose="020B0502040204020203" pitchFamily="34" charset="0"/>
                <a:ea typeface="Gadugi" panose="020B0502040204020203" pitchFamily="34" charset="0"/>
              </a:rPr>
              <a:t>July 2026 | YoY &amp; Target Performance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709160"/>
            <a:ext cx="242316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3232" y="4709160"/>
            <a:ext cx="73152" cy="960120"/>
          </a:xfrm>
          <a:prstGeom prst="rect">
            <a:avLst/>
          </a:prstGeom>
          <a:solidFill>
            <a:srgbClr val="00A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1832" y="4873752"/>
            <a:ext cx="109036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C6978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TOTAL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5212080"/>
            <a:ext cx="2081019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32A32"/>
                </a:solidFill>
              </a:defRPr>
            </a:pPr>
            <a:r>
              <a:rPr b="1">
                <a:latin typeface="Gadugi" panose="020B0502040204020203" pitchFamily="34" charset="0"/>
                <a:ea typeface="Gadugi" panose="020B0502040204020203" pitchFamily="34" charset="0"/>
              </a:rPr>
              <a:t>₹13,257.63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5078578"/>
            <a:ext cx="938077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978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Across 4 OEMs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4709160"/>
            <a:ext cx="242316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337560" y="4709160"/>
            <a:ext cx="73152" cy="960120"/>
          </a:xfrm>
          <a:prstGeom prst="rect">
            <a:avLst/>
          </a:prstGeom>
          <a:solidFill>
            <a:srgbClr val="18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32634" y="4873752"/>
            <a:ext cx="85632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C6978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UNITS SOLD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4999" y="5221414"/>
            <a:ext cx="1114408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32A32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69,139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2634" y="5074907"/>
            <a:ext cx="668773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978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July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61888" y="4709160"/>
            <a:ext cx="242316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961888" y="4709160"/>
            <a:ext cx="73152" cy="960120"/>
          </a:xfrm>
          <a:prstGeom prst="rect">
            <a:avLst/>
          </a:prstGeom>
          <a:solidFill>
            <a:srgbClr val="29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56962" y="4873752"/>
            <a:ext cx="122822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C6978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TARGET VARIANCE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2417" y="5219469"/>
            <a:ext cx="1031051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32A32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1.20%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6962" y="5058460"/>
            <a:ext cx="1345240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978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Above portfolio target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86216" y="4709160"/>
            <a:ext cx="2423160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586216" y="4709160"/>
            <a:ext cx="73152" cy="960120"/>
          </a:xfrm>
          <a:prstGeom prst="rect">
            <a:avLst/>
          </a:prstGeom>
          <a:solidFill>
            <a:srgbClr val="BE8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781954" y="4873752"/>
            <a:ext cx="126669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C6978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AVG. YOY GROWTH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1954" y="5212080"/>
            <a:ext cx="120097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32A32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24.22%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81290" y="5050398"/>
            <a:ext cx="178766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978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Simple average of OEM growth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510528"/>
            <a:ext cx="11201400" cy="10972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30352" y="6547104"/>
            <a:ext cx="448712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8"/>
                </a:solidFill>
              </a:defRPr>
            </a:pPr>
            <a:r>
              <a:rPr b="1">
                <a:latin typeface="Gadugi" panose="020B0502040204020203" pitchFamily="34" charset="0"/>
                <a:ea typeface="Gadugi" panose="020B0502040204020203" pitchFamily="34" charset="0"/>
              </a:rPr>
              <a:t>Source: Supplied Excel workbook | July 2026 commercial vehicle sales &amp; revenue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8902" y="6528816"/>
            <a:ext cx="24397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978"/>
                </a:solidFill>
              </a:defRPr>
            </a:pPr>
            <a:r>
              <a:rPr b="1">
                <a:latin typeface="Gadugi" panose="020B0502040204020203" pitchFamily="34" charset="0"/>
                <a:ea typeface="Gadugi" panose="020B0502040204020203" pitchFamily="34" charset="0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pic>
        <p:nvPicPr>
          <p:cNvPr id="3" name="Picture 2" descr="3087406e-fe61-44ad-b0da-f0ce26188a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109728"/>
            <a:ext cx="1572768" cy="6434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88357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55E"/>
                </a:solidFill>
              </a:defRPr>
            </a:pPr>
            <a:r>
              <a:rPr lang="en-IN" b="1" dirty="0">
                <a:latin typeface="Gadugi" panose="020B0502040204020203" pitchFamily="34" charset="0"/>
                <a:ea typeface="Gadugi" panose="020B0502040204020203" pitchFamily="34" charset="0"/>
              </a:rPr>
              <a:t>KPIs</a:t>
            </a:r>
            <a:endParaRPr b="1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381226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978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Portfolio-level KPIs from the supplied Excel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56032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73152" cy="1143000"/>
          </a:xfrm>
          <a:prstGeom prst="rect">
            <a:avLst/>
          </a:prstGeom>
          <a:solidFill>
            <a:srgbClr val="00A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109036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C6978"/>
                </a:solidFill>
              </a:defRPr>
            </a:pPr>
            <a:r>
              <a:rPr b="1">
                <a:latin typeface="Gadugi" panose="020B0502040204020203" pitchFamily="34" charset="0"/>
                <a:ea typeface="Gadugi" panose="020B0502040204020203" pitchFamily="34" charset="0"/>
              </a:rPr>
              <a:t>TOTAL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09157"/>
            <a:ext cx="2081019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32A32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₹13,257.63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58568"/>
            <a:ext cx="1122423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978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Target: ₹13,100 Cr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417320"/>
            <a:ext cx="256032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337560" y="1417320"/>
            <a:ext cx="73152" cy="1143000"/>
          </a:xfrm>
          <a:prstGeom prst="rect">
            <a:avLst/>
          </a:prstGeom>
          <a:solidFill>
            <a:srgbClr val="29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66160" y="1581912"/>
            <a:ext cx="130356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C6978"/>
                </a:solidFill>
              </a:defRPr>
            </a:pPr>
            <a:r>
              <a:rPr b="1">
                <a:latin typeface="Gadugi" panose="020B0502040204020203" pitchFamily="34" charset="0"/>
                <a:ea typeface="Gadugi" panose="020B0502040204020203" pitchFamily="34" charset="0"/>
              </a:rPr>
              <a:t>REVENUE VARIANCE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6669" y="1809157"/>
            <a:ext cx="1031051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32A32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1.20%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5078" y="2255433"/>
            <a:ext cx="1119217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978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Vs. target revenue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417320"/>
            <a:ext cx="256032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80760" y="1417320"/>
            <a:ext cx="73152" cy="1143000"/>
          </a:xfrm>
          <a:prstGeom prst="rect">
            <a:avLst/>
          </a:prstGeom>
          <a:solidFill>
            <a:srgbClr val="18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66720" y="1561347"/>
            <a:ext cx="125226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C6978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TOTAL UNITS SOLD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4162" y="1812744"/>
            <a:ext cx="1114408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32A32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69,139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3402" y="2252901"/>
            <a:ext cx="668773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978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July 2026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1417320"/>
            <a:ext cx="256032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823960" y="1417320"/>
            <a:ext cx="73152" cy="1143000"/>
          </a:xfrm>
          <a:prstGeom prst="rect">
            <a:avLst/>
          </a:prstGeom>
          <a:solidFill>
            <a:srgbClr val="BE8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84205" y="1578281"/>
            <a:ext cx="1670650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C6978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PORTFOLIO AVG. 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3883" y="1816429"/>
            <a:ext cx="120097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32A32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24.22%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4205" y="2259020"/>
            <a:ext cx="1032655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978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Excel calculation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397137"/>
              </p:ext>
            </p:extLst>
          </p:nvPr>
        </p:nvGraphicFramePr>
        <p:xfrm>
          <a:off x="640080" y="2880359"/>
          <a:ext cx="10744200" cy="30918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Rectangle 27"/>
          <p:cNvSpPr/>
          <p:nvPr/>
        </p:nvSpPr>
        <p:spPr>
          <a:xfrm>
            <a:off x="502920" y="6510528"/>
            <a:ext cx="11201400" cy="10972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30352" y="6547104"/>
            <a:ext cx="448712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8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Source: Supplied Excel workbook | July 2026 commercial vehicle sales &amp; revenue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8902" y="6528816"/>
            <a:ext cx="24397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978"/>
                </a:solidFill>
              </a:defRPr>
            </a:pPr>
            <a:r>
              <a:rPr b="1">
                <a:latin typeface="Gadugi" panose="020B0502040204020203" pitchFamily="34" charset="0"/>
                <a:ea typeface="Gadugi" panose="020B0502040204020203" pitchFamily="34" charset="0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pic>
        <p:nvPicPr>
          <p:cNvPr id="3" name="Picture 2" descr="3087406e-fe61-44ad-b0da-f0ce26188a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109728"/>
            <a:ext cx="1572768" cy="6434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4844403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55E"/>
                </a:solidFill>
              </a:defRPr>
            </a:pPr>
            <a:r>
              <a:rPr b="1">
                <a:latin typeface="Gadugi" panose="020B0502040204020203" pitchFamily="34" charset="0"/>
                <a:ea typeface="Gadugi" panose="020B0502040204020203" pitchFamily="34" charset="0"/>
              </a:rPr>
              <a:t>OEM Performance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306526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978"/>
                </a:solidFill>
              </a:defRPr>
            </a:pPr>
            <a:r>
              <a:rPr b="1">
                <a:latin typeface="Gadugi" panose="020B0502040204020203" pitchFamily="34" charset="0"/>
                <a:ea typeface="Gadugi" panose="020B0502040204020203" pitchFamily="34" charset="0"/>
              </a:rPr>
              <a:t>July 2026 sales, revenue, target and growth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975030"/>
              </p:ext>
            </p:extLst>
          </p:nvPr>
        </p:nvGraphicFramePr>
        <p:xfrm>
          <a:off x="411480" y="1325880"/>
          <a:ext cx="1001268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b="1" dirty="0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OEM / Brand</a:t>
                      </a:r>
                    </a:p>
                  </a:txBody>
                  <a:tcPr>
                    <a:solidFill>
                      <a:srgbClr val="18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b="1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Units Sold</a:t>
                      </a:r>
                    </a:p>
                  </a:txBody>
                  <a:tcPr>
                    <a:solidFill>
                      <a:srgbClr val="18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b="1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ASP (₹ Lakh)</a:t>
                      </a:r>
                    </a:p>
                  </a:txBody>
                  <a:tcPr>
                    <a:solidFill>
                      <a:srgbClr val="18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b="1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Revenue (₹ Cr)</a:t>
                      </a:r>
                    </a:p>
                  </a:txBody>
                  <a:tcPr>
                    <a:solidFill>
                      <a:srgbClr val="18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b="1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Target (₹ Cr)</a:t>
                      </a:r>
                    </a:p>
                  </a:txBody>
                  <a:tcPr>
                    <a:solidFill>
                      <a:srgbClr val="18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b="1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Variance</a:t>
                      </a:r>
                    </a:p>
                  </a:txBody>
                  <a:tcPr>
                    <a:solidFill>
                      <a:srgbClr val="1835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sz="1400" b="1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YoY Growth</a:t>
                      </a:r>
                    </a:p>
                  </a:txBody>
                  <a:tcPr>
                    <a:solidFill>
                      <a:srgbClr val="183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2A32"/>
                          </a:solidFill>
                        </a:defRPr>
                      </a:pPr>
                      <a:r>
                        <a:rPr sz="1400" b="1" dirty="0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Tata Motors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A32"/>
                          </a:solidFill>
                        </a:defRPr>
                      </a:pPr>
                      <a:r>
                        <a:rPr sz="1400" b="1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39,641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A32"/>
                          </a:solidFill>
                        </a:defRPr>
                      </a:pPr>
                      <a:r>
                        <a:rPr sz="1400" b="1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18.5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A32"/>
                          </a:solidFill>
                        </a:defRPr>
                      </a:pPr>
                      <a:r>
                        <a:rPr sz="1400" b="1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7,333.59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A32"/>
                          </a:solidFill>
                        </a:defRPr>
                      </a:pPr>
                      <a:r>
                        <a:rPr sz="1400" b="1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7,100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A32"/>
                          </a:solidFill>
                        </a:defRPr>
                      </a:pPr>
                      <a:r>
                        <a:rPr sz="1400" b="1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3.29%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A32"/>
                          </a:solidFill>
                        </a:defRPr>
                      </a:pPr>
                      <a:r>
                        <a:rPr sz="1400" b="1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36.9%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2A32"/>
                          </a:solidFill>
                        </a:defRPr>
                      </a:pPr>
                      <a:r>
                        <a:rPr sz="1400" b="1" dirty="0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Ashok Leyland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A32"/>
                          </a:solidFill>
                        </a:defRPr>
                      </a:pPr>
                      <a:r>
                        <a:rPr sz="1400" b="1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19,590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A32"/>
                          </a:solidFill>
                        </a:defRPr>
                      </a:pPr>
                      <a:r>
                        <a:rPr sz="1400" b="1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21.0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A32"/>
                          </a:solidFill>
                        </a:defRPr>
                      </a:pPr>
                      <a:r>
                        <a:rPr sz="1400" b="1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4,113.90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A32"/>
                          </a:solidFill>
                        </a:defRPr>
                      </a:pPr>
                      <a:r>
                        <a:rPr sz="1400" b="1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4,250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A32"/>
                          </a:solidFill>
                        </a:defRPr>
                      </a:pPr>
                      <a:r>
                        <a:rPr sz="1400" b="1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-3.20%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A32"/>
                          </a:solidFill>
                        </a:defRPr>
                      </a:pPr>
                      <a:r>
                        <a:rPr sz="1400" b="1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30.0%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2A32"/>
                          </a:solidFill>
                        </a:defRPr>
                      </a:pPr>
                      <a:r>
                        <a:rPr sz="1400" b="1" dirty="0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Eicher (VECV)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A32"/>
                          </a:solidFill>
                        </a:defRPr>
                      </a:pPr>
                      <a:r>
                        <a:rPr sz="1400" b="1" dirty="0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8,241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A32"/>
                          </a:solidFill>
                        </a:defRPr>
                      </a:pPr>
                      <a:r>
                        <a:rPr sz="1400" b="1" dirty="0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16.2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A32"/>
                          </a:solidFill>
                        </a:defRPr>
                      </a:pPr>
                      <a:r>
                        <a:rPr sz="1400" b="1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1,335.04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A32"/>
                          </a:solidFill>
                        </a:defRPr>
                      </a:pPr>
                      <a:r>
                        <a:rPr sz="1400" b="1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1,300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A32"/>
                          </a:solidFill>
                        </a:defRPr>
                      </a:pPr>
                      <a:r>
                        <a:rPr sz="1400" b="1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2.69%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A32"/>
                          </a:solidFill>
                        </a:defRPr>
                      </a:pPr>
                      <a:r>
                        <a:rPr sz="1400" b="1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15.8%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32A32"/>
                          </a:solidFill>
                        </a:defRPr>
                      </a:pPr>
                      <a:r>
                        <a:rPr sz="1400" b="1" dirty="0" err="1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BharatBenz</a:t>
                      </a:r>
                      <a:endParaRPr sz="1400" b="1" dirty="0">
                        <a:latin typeface="Gadugi" panose="020B0502040204020203" pitchFamily="34" charset="0"/>
                        <a:ea typeface="Gadugi" panose="020B0502040204020203" pitchFamily="34" charset="0"/>
                      </a:endParaRP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A32"/>
                          </a:solidFill>
                        </a:defRPr>
                      </a:pPr>
                      <a:r>
                        <a:rPr sz="1400" b="1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1,667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A32"/>
                          </a:solidFill>
                        </a:defRPr>
                      </a:pPr>
                      <a:r>
                        <a:rPr sz="1400" b="1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28.5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A32"/>
                          </a:solidFill>
                        </a:defRPr>
                      </a:pPr>
                      <a:r>
                        <a:rPr sz="1400" b="1" dirty="0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475.10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A32"/>
                          </a:solidFill>
                        </a:defRPr>
                      </a:pPr>
                      <a:r>
                        <a:rPr sz="1400" b="1" dirty="0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450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A32"/>
                          </a:solidFill>
                        </a:defRPr>
                      </a:pPr>
                      <a:r>
                        <a:rPr sz="1400" b="1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5.58%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32A32"/>
                          </a:solidFill>
                        </a:defRPr>
                      </a:pPr>
                      <a:r>
                        <a:rPr sz="1400" b="1" dirty="0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14.2%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18355E"/>
                          </a:solidFill>
                        </a:defRPr>
                      </a:pPr>
                      <a:r>
                        <a:rPr sz="1400" b="1" dirty="0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Total / Average</a:t>
                      </a:r>
                    </a:p>
                  </a:txBody>
                  <a:tcPr>
                    <a:solidFill>
                      <a:srgbClr val="E1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8355E"/>
                          </a:solidFill>
                        </a:defRPr>
                      </a:pPr>
                      <a:r>
                        <a:rPr sz="1400" b="1" dirty="0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69,139</a:t>
                      </a:r>
                    </a:p>
                  </a:txBody>
                  <a:tcPr>
                    <a:solidFill>
                      <a:srgbClr val="E1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8355E"/>
                          </a:solidFill>
                        </a:defRPr>
                      </a:pPr>
                      <a:r>
                        <a:rPr sz="1400" b="1" dirty="0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19.18</a:t>
                      </a:r>
                    </a:p>
                  </a:txBody>
                  <a:tcPr>
                    <a:solidFill>
                      <a:srgbClr val="E1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8355E"/>
                          </a:solidFill>
                        </a:defRPr>
                      </a:pPr>
                      <a:r>
                        <a:rPr sz="1400" b="1" dirty="0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13,257.63</a:t>
                      </a:r>
                    </a:p>
                  </a:txBody>
                  <a:tcPr>
                    <a:solidFill>
                      <a:srgbClr val="E1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8355E"/>
                          </a:solidFill>
                        </a:defRPr>
                      </a:pPr>
                      <a:r>
                        <a:rPr sz="1400" b="1" dirty="0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13,100</a:t>
                      </a:r>
                    </a:p>
                  </a:txBody>
                  <a:tcPr>
                    <a:solidFill>
                      <a:srgbClr val="E1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8355E"/>
                          </a:solidFill>
                        </a:defRPr>
                      </a:pPr>
                      <a:r>
                        <a:rPr sz="1400" b="1" dirty="0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1.20%</a:t>
                      </a:r>
                    </a:p>
                  </a:txBody>
                  <a:tcPr>
                    <a:solidFill>
                      <a:srgbClr val="E1ED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8355E"/>
                          </a:solidFill>
                        </a:defRPr>
                      </a:pPr>
                      <a:r>
                        <a:rPr sz="1400" b="1" dirty="0">
                          <a:latin typeface="Gadugi" panose="020B0502040204020203" pitchFamily="34" charset="0"/>
                          <a:ea typeface="Gadugi" panose="020B0502040204020203" pitchFamily="34" charset="0"/>
                        </a:rPr>
                        <a:t>24.22%</a:t>
                      </a:r>
                    </a:p>
                  </a:txBody>
                  <a:tcPr>
                    <a:solidFill>
                      <a:srgbClr val="E1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715000"/>
            <a:ext cx="838883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8"/>
                </a:solidFill>
              </a:defRPr>
            </a:pPr>
            <a:r>
              <a:rPr b="1">
                <a:latin typeface="Gadugi" panose="020B0502040204020203" pitchFamily="34" charset="0"/>
                <a:ea typeface="Gadugi" panose="020B0502040204020203" pitchFamily="34" charset="0"/>
              </a:rPr>
              <a:t>Note: Variance = (Actual Revenue − Target Revenue) / Target Revenue. Portfolio Avg. Growth is the simple average of the four OEM YoY growth rates.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11201400" cy="10972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6547104"/>
            <a:ext cx="448712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8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Source: Supplied Excel workbook | July 2026 commercial vehicle sales &amp; revenue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8902" y="6528816"/>
            <a:ext cx="24397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978"/>
                </a:solidFill>
              </a:defRPr>
            </a:pPr>
            <a:r>
              <a:rPr b="1">
                <a:latin typeface="Gadugi" panose="020B0502040204020203" pitchFamily="34" charset="0"/>
                <a:ea typeface="Gadugi" panose="020B0502040204020203" pitchFamily="34" charset="0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pic>
        <p:nvPicPr>
          <p:cNvPr id="3" name="Picture 2" descr="3087406e-fe61-44ad-b0da-f0ce26188a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109728"/>
            <a:ext cx="1572768" cy="6434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322928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55E"/>
                </a:solidFill>
              </a:defRPr>
            </a:pPr>
            <a:r>
              <a:rPr>
                <a:latin typeface="Gadugi" panose="020B0502040204020203" pitchFamily="34" charset="0"/>
                <a:ea typeface="Gadugi" panose="020B0502040204020203" pitchFamily="34" charset="0"/>
              </a:rPr>
              <a:t>Revenue vs.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298511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978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Who exceeded target—and by how much?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164254"/>
              </p:ext>
            </p:extLst>
          </p:nvPr>
        </p:nvGraphicFramePr>
        <p:xfrm>
          <a:off x="640080" y="1417320"/>
          <a:ext cx="65836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635240" y="1508760"/>
            <a:ext cx="3840480" cy="841248"/>
          </a:xfrm>
          <a:prstGeom prst="roundRect">
            <a:avLst/>
          </a:prstGeom>
          <a:solidFill>
            <a:srgbClr val="F4F7FA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45552" y="1627631"/>
            <a:ext cx="99257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32A32"/>
                </a:solidFill>
              </a:defRPr>
            </a:pPr>
            <a:r>
              <a:rPr dirty="0">
                <a:latin typeface="Gadugi" panose="020B0502040204020203" pitchFamily="34" charset="0"/>
                <a:ea typeface="Gadugi" panose="020B0502040204020203" pitchFamily="34" charset="0"/>
              </a:rPr>
              <a:t>Tata Motors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26676" y="1618488"/>
            <a:ext cx="92044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9845A"/>
                </a:solidFill>
              </a:defRPr>
            </a:pPr>
            <a:r>
              <a:rPr>
                <a:latin typeface="Gadugi" panose="020B0502040204020203" pitchFamily="34" charset="0"/>
                <a:ea typeface="Gadugi" panose="020B0502040204020203" pitchFamily="34" charset="0"/>
              </a:rPr>
              <a:t>+3.29%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5552" y="1938528"/>
            <a:ext cx="2119491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978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Actual ₹7,333.59 Cr | Target ₹7,100 Cr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496312"/>
            <a:ext cx="3840480" cy="841248"/>
          </a:xfrm>
          <a:prstGeom prst="roundRect">
            <a:avLst/>
          </a:prstGeom>
          <a:solidFill>
            <a:srgbClr val="F4F7FA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45552" y="2615184"/>
            <a:ext cx="114646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32A32"/>
                </a:solidFill>
              </a:defRPr>
            </a:pPr>
            <a:r>
              <a:rPr>
                <a:latin typeface="Gadugi" panose="020B0502040204020203" pitchFamily="34" charset="0"/>
                <a:ea typeface="Gadugi" panose="020B0502040204020203" pitchFamily="34" charset="0"/>
              </a:rPr>
              <a:t>Ashok Leyland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9193" y="2606040"/>
            <a:ext cx="85792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B93F3F"/>
                </a:solidFill>
              </a:defRPr>
            </a:pPr>
            <a:r>
              <a:rPr>
                <a:latin typeface="Gadugi" panose="020B0502040204020203" pitchFamily="34" charset="0"/>
                <a:ea typeface="Gadugi" panose="020B0502040204020203" pitchFamily="34" charset="0"/>
              </a:rPr>
              <a:t>-3.20%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2926080"/>
            <a:ext cx="2119491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978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Actual ₹4,113.90 Cr | Target ₹4,250 Cr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483864"/>
            <a:ext cx="3840480" cy="841248"/>
          </a:xfrm>
          <a:prstGeom prst="roundRect">
            <a:avLst/>
          </a:prstGeom>
          <a:solidFill>
            <a:srgbClr val="F4F7FA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45552" y="3602736"/>
            <a:ext cx="107914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32A32"/>
                </a:solidFill>
              </a:defRPr>
            </a:pPr>
            <a:r>
              <a:rPr>
                <a:latin typeface="Gadugi" panose="020B0502040204020203" pitchFamily="34" charset="0"/>
                <a:ea typeface="Gadugi" panose="020B0502040204020203" pitchFamily="34" charset="0"/>
              </a:rPr>
              <a:t>Eicher (VECV)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26676" y="3593592"/>
            <a:ext cx="92044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9845A"/>
                </a:solidFill>
              </a:defRPr>
            </a:pPr>
            <a:r>
              <a:rPr>
                <a:latin typeface="Gadugi" panose="020B0502040204020203" pitchFamily="34" charset="0"/>
                <a:ea typeface="Gadugi" panose="020B0502040204020203" pitchFamily="34" charset="0"/>
              </a:rPr>
              <a:t>+2.69%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3913632"/>
            <a:ext cx="2119491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978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Actual ₹1,335.04 Cr | Target ₹1,300 Cr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4471416"/>
            <a:ext cx="3840480" cy="841248"/>
          </a:xfrm>
          <a:prstGeom prst="roundRect">
            <a:avLst/>
          </a:prstGeom>
          <a:solidFill>
            <a:srgbClr val="F4F7FA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45552" y="4590288"/>
            <a:ext cx="93968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32A32"/>
                </a:solidFill>
              </a:defRPr>
            </a:pPr>
            <a:r>
              <a:rPr>
                <a:latin typeface="Gadugi" panose="020B0502040204020203" pitchFamily="34" charset="0"/>
                <a:ea typeface="Gadugi" panose="020B0502040204020203" pitchFamily="34" charset="0"/>
              </a:rPr>
              <a:t>BharatBenz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6676" y="4581144"/>
            <a:ext cx="92044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29845A"/>
                </a:solidFill>
              </a:defRPr>
            </a:pPr>
            <a:r>
              <a:rPr>
                <a:latin typeface="Gadugi" panose="020B0502040204020203" pitchFamily="34" charset="0"/>
                <a:ea typeface="Gadugi" panose="020B0502040204020203" pitchFamily="34" charset="0"/>
              </a:rPr>
              <a:t>+5.58%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4901184"/>
            <a:ext cx="1936749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978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Actual ₹475.10 Cr | Target ₹450 Cr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10528"/>
            <a:ext cx="11201400" cy="10972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0352" y="6547104"/>
            <a:ext cx="42082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8"/>
                </a:solidFill>
              </a:defRPr>
            </a:pPr>
            <a:r>
              <a:rPr>
                <a:latin typeface="Gadugi" panose="020B0502040204020203" pitchFamily="34" charset="0"/>
                <a:ea typeface="Gadugi" panose="020B0502040204020203" pitchFamily="34" charset="0"/>
              </a:rPr>
              <a:t>Source: Supplied Excel workbook | July 2026 commercial vehicle sales &amp; revenue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72108" y="6528816"/>
            <a:ext cx="2407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978"/>
                </a:solidFill>
              </a:defRPr>
            </a:pPr>
            <a:r>
              <a:rPr>
                <a:latin typeface="Gadugi" panose="020B0502040204020203" pitchFamily="34" charset="0"/>
                <a:ea typeface="Gadugi" panose="020B0502040204020203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pic>
        <p:nvPicPr>
          <p:cNvPr id="3" name="Picture 2" descr="3087406e-fe61-44ad-b0da-f0ce26188a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109728"/>
            <a:ext cx="1572768" cy="6434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376064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55E"/>
                </a:solidFill>
              </a:defRPr>
            </a:pPr>
            <a:r>
              <a:rPr dirty="0">
                <a:latin typeface="Gadugi" panose="020B0502040204020203" pitchFamily="34" charset="0"/>
                <a:ea typeface="Gadugi" panose="020B0502040204020203" pitchFamily="34" charset="0"/>
              </a:rPr>
              <a:t>Volume &amp; Pricing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423866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978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Units sold and average selling price explain the revenue scale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201738"/>
              </p:ext>
            </p:extLst>
          </p:nvPr>
        </p:nvGraphicFramePr>
        <p:xfrm>
          <a:off x="502920" y="1417320"/>
          <a:ext cx="56235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606192"/>
              </p:ext>
            </p:extLst>
          </p:nvPr>
        </p:nvGraphicFramePr>
        <p:xfrm>
          <a:off x="6355080" y="1417320"/>
          <a:ext cx="51206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3232" y="5897880"/>
            <a:ext cx="496482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C6978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Portfolio average ASP: ₹19.18 Lakh / Unit, calculated from total revenue and total units.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0528"/>
            <a:ext cx="11201400" cy="10972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0352" y="6547104"/>
            <a:ext cx="448712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8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Source: Supplied Excel workbook | July 2026 commercial vehicle sales &amp; revenue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8902" y="6528816"/>
            <a:ext cx="24397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978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pic>
        <p:nvPicPr>
          <p:cNvPr id="3" name="Picture 2" descr="3087406e-fe61-44ad-b0da-f0ce26188a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109728"/>
            <a:ext cx="1572768" cy="6434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357546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55E"/>
                </a:solidFill>
              </a:defRPr>
            </a:pPr>
            <a:r>
              <a:rPr b="1">
                <a:latin typeface="Gadugi" panose="020B0502040204020203" pitchFamily="34" charset="0"/>
                <a:ea typeface="Gadugi" panose="020B0502040204020203" pitchFamily="34" charset="0"/>
              </a:rPr>
              <a:t>YoY Revenue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315663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978"/>
                </a:solidFill>
              </a:defRPr>
            </a:pPr>
            <a:r>
              <a:rPr b="1">
                <a:latin typeface="Gadugi" panose="020B0502040204020203" pitchFamily="34" charset="0"/>
                <a:ea typeface="Gadugi" panose="020B0502040204020203" pitchFamily="34" charset="0"/>
              </a:rPr>
              <a:t>Growth rates supplied in the Excel workbook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554480"/>
            <a:ext cx="3794760" cy="8229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CC99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1. </a:t>
            </a:r>
            <a:r>
              <a:rPr lang="en-IN" b="1" dirty="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Tata Motors                    </a:t>
            </a:r>
            <a:r>
              <a:rPr lang="en-IN" b="1" dirty="0">
                <a:solidFill>
                  <a:srgbClr val="000066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36.9%</a:t>
            </a:r>
            <a:endParaRPr b="1" dirty="0">
              <a:solidFill>
                <a:srgbClr val="000066"/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635240" y="2542032"/>
            <a:ext cx="3794760" cy="8229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CC99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2. </a:t>
            </a:r>
            <a:r>
              <a:rPr lang="en-IN" b="1" dirty="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Ashok Leyland                </a:t>
            </a:r>
            <a:r>
              <a:rPr lang="en-IN" b="1" dirty="0">
                <a:solidFill>
                  <a:srgbClr val="000066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30.0%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529584"/>
            <a:ext cx="3794760" cy="822960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CC99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3. </a:t>
            </a:r>
            <a:r>
              <a:rPr lang="en-IN" b="1" dirty="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Eicher (VECV)                  </a:t>
            </a:r>
            <a:r>
              <a:rPr lang="en-IN" b="1" dirty="0">
                <a:solidFill>
                  <a:srgbClr val="000066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15.8%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4517136"/>
            <a:ext cx="3794760" cy="822960"/>
          </a:xfrm>
          <a:prstGeom prst="roundRect">
            <a:avLst/>
          </a:prstGeom>
          <a:solidFill>
            <a:srgbClr val="F4F7FA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CC99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4. </a:t>
            </a:r>
            <a:r>
              <a:rPr lang="en-IN" b="1" dirty="0" err="1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Bharatbenz</a:t>
            </a:r>
            <a:r>
              <a:rPr lang="en-IN" b="1" dirty="0">
                <a:solidFill>
                  <a:schemeClr val="tx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                      </a:t>
            </a:r>
            <a:r>
              <a:rPr lang="en-IN" b="1" dirty="0">
                <a:solidFill>
                  <a:srgbClr val="000066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14.2%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10528"/>
            <a:ext cx="11201400" cy="10972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0352" y="6547104"/>
            <a:ext cx="448712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8"/>
                </a:solidFill>
              </a:defRPr>
            </a:pPr>
            <a:r>
              <a:rPr b="1">
                <a:latin typeface="Gadugi" panose="020B0502040204020203" pitchFamily="34" charset="0"/>
                <a:ea typeface="Gadugi" panose="020B0502040204020203" pitchFamily="34" charset="0"/>
              </a:rPr>
              <a:t>Source: Supplied Excel workbook | July 2026 commercial vehicle sales &amp; revenue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68902" y="6528816"/>
            <a:ext cx="24397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978"/>
                </a:solidFill>
              </a:defRPr>
            </a:pPr>
            <a:r>
              <a:rPr b="1">
                <a:latin typeface="Gadugi" panose="020B0502040204020203" pitchFamily="34" charset="0"/>
                <a:ea typeface="Gadugi" panose="020B0502040204020203" pitchFamily="34" charset="0"/>
              </a:rPr>
              <a:t>6</a:t>
            </a:r>
          </a:p>
        </p:txBody>
      </p:sp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DE9E911B-EB5F-5D93-7BB1-0734ABBDD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487967"/>
              </p:ext>
            </p:extLst>
          </p:nvPr>
        </p:nvGraphicFramePr>
        <p:xfrm>
          <a:off x="566927" y="1563962"/>
          <a:ext cx="6433947" cy="37761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pic>
        <p:nvPicPr>
          <p:cNvPr id="3" name="Picture 2" descr="3087406e-fe61-44ad-b0da-f0ce26188a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109728"/>
            <a:ext cx="1572768" cy="6434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616309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55E"/>
                </a:solidFill>
              </a:defRPr>
            </a:pPr>
            <a:r>
              <a:rPr b="1">
                <a:latin typeface="Gadugi" panose="020B0502040204020203" pitchFamily="34" charset="0"/>
                <a:ea typeface="Gadugi" panose="020B0502040204020203" pitchFamily="34" charset="0"/>
              </a:rPr>
              <a:t>July 2025 vs July 2026 Revenue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640912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978"/>
                </a:solidFill>
              </a:defRPr>
            </a:pPr>
            <a:r>
              <a:rPr b="1">
                <a:latin typeface="Gadugi" panose="020B0502040204020203" pitchFamily="34" charset="0"/>
                <a:ea typeface="Gadugi" panose="020B0502040204020203" pitchFamily="34" charset="0"/>
              </a:rPr>
              <a:t>July 2025 revenue is reconstructed from the supplied July 2026 revenue and YoY growth rates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113067"/>
              </p:ext>
            </p:extLst>
          </p:nvPr>
        </p:nvGraphicFramePr>
        <p:xfrm>
          <a:off x="640080" y="1417320"/>
          <a:ext cx="676656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26679" y="1600200"/>
            <a:ext cx="356616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26679" y="1600200"/>
            <a:ext cx="73152" cy="1097280"/>
          </a:xfrm>
          <a:prstGeom prst="rect">
            <a:avLst/>
          </a:prstGeom>
          <a:solidFill>
            <a:srgbClr val="18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55279" y="1764792"/>
            <a:ext cx="237276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C6978"/>
                </a:solidFill>
              </a:defRPr>
            </a:pPr>
            <a:r>
              <a:rPr b="1">
                <a:latin typeface="Gadugi" panose="020B0502040204020203" pitchFamily="34" charset="0"/>
                <a:ea typeface="Gadugi" panose="020B0502040204020203" pitchFamily="34" charset="0"/>
              </a:rPr>
              <a:t>JUL 2025 IMPLIED PORTFOLIO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917674"/>
            <a:ext cx="2081019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32A32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₹10,090.34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286000"/>
            <a:ext cx="1843774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978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Derived from supplied YoY rates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926080"/>
            <a:ext cx="356616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726679" y="2926080"/>
            <a:ext cx="73152" cy="1097280"/>
          </a:xfrm>
          <a:prstGeom prst="rect">
            <a:avLst/>
          </a:prstGeom>
          <a:solidFill>
            <a:srgbClr val="00A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55279" y="3090672"/>
            <a:ext cx="188064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C6978"/>
                </a:solidFill>
              </a:defRPr>
            </a:pPr>
            <a:r>
              <a:rPr b="1">
                <a:latin typeface="Gadugi" panose="020B0502040204020203" pitchFamily="34" charset="0"/>
                <a:ea typeface="Gadugi" panose="020B0502040204020203" pitchFamily="34" charset="0"/>
              </a:rPr>
              <a:t>JUL 2026 PORTFOLIO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254237"/>
            <a:ext cx="2081019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32A32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₹13,257.63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611880"/>
            <a:ext cx="1527982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978"/>
                </a:solidFill>
              </a:defRPr>
            </a:pPr>
            <a:r>
              <a:rPr b="1">
                <a:latin typeface="Gadugi" panose="020B0502040204020203" pitchFamily="34" charset="0"/>
                <a:ea typeface="Gadugi" panose="020B0502040204020203" pitchFamily="34" charset="0"/>
              </a:rPr>
              <a:t>Actual figure in workbook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4251960"/>
            <a:ext cx="3566160" cy="1097280"/>
          </a:xfrm>
          <a:prstGeom prst="roundRect">
            <a:avLst/>
          </a:prstGeom>
          <a:solidFill>
            <a:srgbClr val="F4F7FA"/>
          </a:solidFill>
          <a:ln>
            <a:solidFill>
              <a:srgbClr val="E0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726679" y="4251960"/>
            <a:ext cx="73152" cy="1097280"/>
          </a:xfrm>
          <a:prstGeom prst="rect">
            <a:avLst/>
          </a:prstGeom>
          <a:solidFill>
            <a:srgbClr val="29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955279" y="4416552"/>
            <a:ext cx="189827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C6978"/>
                </a:solidFill>
              </a:defRPr>
            </a:pPr>
            <a:r>
              <a:rPr b="1">
                <a:latin typeface="Gadugi" panose="020B0502040204020203" pitchFamily="34" charset="0"/>
                <a:ea typeface="Gadugi" panose="020B0502040204020203" pitchFamily="34" charset="0"/>
              </a:rPr>
              <a:t>IMPLIED AGGREGATE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579242"/>
            <a:ext cx="120097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32A32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31.39%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937760"/>
            <a:ext cx="2472152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978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Weighted from reconstructed OEM revenues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1547" y="6271757"/>
            <a:ext cx="8488221" cy="223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C6978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Important: July 2025 figures are not raw historical inputs in the workbook; they are mathematically implied from the reported July 2026 revenue and YoY growth.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10528"/>
            <a:ext cx="11201400" cy="10972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0352" y="6547104"/>
            <a:ext cx="448712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8"/>
                </a:solidFill>
              </a:defRPr>
            </a:pPr>
            <a:r>
              <a:rPr b="1">
                <a:latin typeface="Gadugi" panose="020B0502040204020203" pitchFamily="34" charset="0"/>
                <a:ea typeface="Gadugi" panose="020B0502040204020203" pitchFamily="34" charset="0"/>
              </a:rPr>
              <a:t>Source: Supplied Excel workbook | July 2026 commercial vehicle sales &amp; revenue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68902" y="6528816"/>
            <a:ext cx="24397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978"/>
                </a:solidFill>
              </a:defRPr>
            </a:pPr>
            <a:r>
              <a:rPr b="1">
                <a:latin typeface="Gadugi" panose="020B0502040204020203" pitchFamily="34" charset="0"/>
                <a:ea typeface="Gadugi" panose="020B0502040204020203" pitchFamily="34" charset="0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pic>
        <p:nvPicPr>
          <p:cNvPr id="3" name="Picture 2" descr="3087406e-fe61-44ad-b0da-f0ce26188a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109728"/>
            <a:ext cx="1572768" cy="6434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259795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55E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383149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978"/>
                </a:solidFill>
              </a:defRPr>
            </a:pPr>
            <a:r>
              <a:rPr b="1">
                <a:latin typeface="Gadugi" panose="020B0502040204020203" pitchFamily="34" charset="0"/>
                <a:ea typeface="Gadugi" panose="020B0502040204020203" pitchFamily="34" charset="0"/>
              </a:rPr>
              <a:t>Management-ready interpretation of the supplied data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362456"/>
            <a:ext cx="201168" cy="201168"/>
          </a:xfrm>
          <a:prstGeom prst="ellipse">
            <a:avLst/>
          </a:prstGeom>
          <a:solidFill>
            <a:srgbClr val="00A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7552" y="1325880"/>
            <a:ext cx="785529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55E"/>
                </a:solidFill>
              </a:defRPr>
            </a:pPr>
            <a:r>
              <a:rPr sz="1400" b="1" dirty="0">
                <a:latin typeface="Gadugi" panose="020B0502040204020203" pitchFamily="34" charset="0"/>
                <a:ea typeface="Gadugi" panose="020B0502040204020203" pitchFamily="34" charset="0"/>
              </a:rPr>
              <a:t>Tata Motors leads the portfolio</a:t>
            </a:r>
          </a:p>
          <a:p>
            <a:pPr>
              <a:defRPr sz="1050">
                <a:solidFill>
                  <a:srgbClr val="232A32"/>
                </a:solidFill>
              </a:defRPr>
            </a:pPr>
            <a:r>
              <a:rPr sz="1400" b="1" dirty="0">
                <a:latin typeface="Gadugi" panose="020B0502040204020203" pitchFamily="34" charset="0"/>
                <a:ea typeface="Gadugi" panose="020B0502040204020203" pitchFamily="34" charset="0"/>
              </a:rPr>
              <a:t>₹7,333.59 Cr revenue and 39,641 units sold, representing the largest absolute contribution.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167128"/>
            <a:ext cx="201168" cy="201168"/>
          </a:xfrm>
          <a:prstGeom prst="ellipse">
            <a:avLst/>
          </a:prstGeom>
          <a:solidFill>
            <a:srgbClr val="00A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7552" y="2130552"/>
            <a:ext cx="597048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55E"/>
                </a:solidFill>
              </a:defRPr>
            </a:pPr>
            <a:r>
              <a:rPr sz="1400" b="1" dirty="0">
                <a:latin typeface="Gadugi" panose="020B0502040204020203" pitchFamily="34" charset="0"/>
                <a:ea typeface="Gadugi" panose="020B0502040204020203" pitchFamily="34" charset="0"/>
              </a:rPr>
              <a:t>All four OEMs delivered positive YoY revenue growth</a:t>
            </a:r>
          </a:p>
          <a:p>
            <a:pPr>
              <a:defRPr sz="1050">
                <a:solidFill>
                  <a:srgbClr val="232A32"/>
                </a:solidFill>
              </a:defRPr>
            </a:pPr>
            <a:r>
              <a:rPr sz="1400" b="1" dirty="0">
                <a:latin typeface="Gadugi" panose="020B0502040204020203" pitchFamily="34" charset="0"/>
                <a:ea typeface="Gadugi" panose="020B0502040204020203" pitchFamily="34" charset="0"/>
              </a:rPr>
              <a:t>Growth ranges from 14.2% for </a:t>
            </a:r>
            <a:r>
              <a:rPr sz="1400" b="1" dirty="0" err="1">
                <a:latin typeface="Gadugi" panose="020B0502040204020203" pitchFamily="34" charset="0"/>
                <a:ea typeface="Gadugi" panose="020B0502040204020203" pitchFamily="34" charset="0"/>
              </a:rPr>
              <a:t>BharatBenz</a:t>
            </a:r>
            <a:r>
              <a:rPr sz="1400" b="1" dirty="0">
                <a:latin typeface="Gadugi" panose="020B0502040204020203" pitchFamily="34" charset="0"/>
                <a:ea typeface="Gadugi" panose="020B0502040204020203" pitchFamily="34" charset="0"/>
              </a:rPr>
              <a:t> to 36.9% for Tata Motors.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971800"/>
            <a:ext cx="201168" cy="201168"/>
          </a:xfrm>
          <a:prstGeom prst="ellipse">
            <a:avLst/>
          </a:prstGeom>
          <a:solidFill>
            <a:srgbClr val="00A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7552" y="2935224"/>
            <a:ext cx="790979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55E"/>
                </a:solidFill>
              </a:defRPr>
            </a:pPr>
            <a:r>
              <a:rPr sz="1400" b="1" dirty="0">
                <a:latin typeface="Gadugi" panose="020B0502040204020203" pitchFamily="34" charset="0"/>
                <a:ea typeface="Gadugi" panose="020B0502040204020203" pitchFamily="34" charset="0"/>
              </a:rPr>
              <a:t>Three OEMs exceeded revenue target</a:t>
            </a:r>
          </a:p>
          <a:p>
            <a:pPr>
              <a:defRPr sz="1050">
                <a:solidFill>
                  <a:srgbClr val="232A32"/>
                </a:solidFill>
              </a:defRPr>
            </a:pPr>
            <a:r>
              <a:rPr sz="1400" b="1" dirty="0">
                <a:latin typeface="Gadugi" panose="020B0502040204020203" pitchFamily="34" charset="0"/>
                <a:ea typeface="Gadugi" panose="020B0502040204020203" pitchFamily="34" charset="0"/>
              </a:rPr>
              <a:t>Tata Motors (+3.29%), Eicher (VECV) (+2.69%) and </a:t>
            </a:r>
            <a:r>
              <a:rPr sz="1400" b="1" dirty="0" err="1">
                <a:latin typeface="Gadugi" panose="020B0502040204020203" pitchFamily="34" charset="0"/>
                <a:ea typeface="Gadugi" panose="020B0502040204020203" pitchFamily="34" charset="0"/>
              </a:rPr>
              <a:t>BharatBenz</a:t>
            </a:r>
            <a:r>
              <a:rPr sz="1400" b="1" dirty="0">
                <a:latin typeface="Gadugi" panose="020B0502040204020203" pitchFamily="34" charset="0"/>
                <a:ea typeface="Gadugi" panose="020B0502040204020203" pitchFamily="34" charset="0"/>
              </a:rPr>
              <a:t> (+5.58%) were above target.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776472"/>
            <a:ext cx="201168" cy="201168"/>
          </a:xfrm>
          <a:prstGeom prst="ellipse">
            <a:avLst/>
          </a:prstGeom>
          <a:solidFill>
            <a:srgbClr val="00A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87552" y="3739896"/>
            <a:ext cx="542007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55E"/>
                </a:solidFill>
              </a:defRPr>
            </a:pPr>
            <a:r>
              <a:rPr sz="1400" b="1">
                <a:latin typeface="Gadugi" panose="020B0502040204020203" pitchFamily="34" charset="0"/>
                <a:ea typeface="Gadugi" panose="020B0502040204020203" pitchFamily="34" charset="0"/>
              </a:rPr>
              <a:t>Ashok Leyland is the only target miss</a:t>
            </a:r>
          </a:p>
          <a:p>
            <a:pPr>
              <a:defRPr sz="1050">
                <a:solidFill>
                  <a:srgbClr val="232A32"/>
                </a:solidFill>
              </a:defRPr>
            </a:pPr>
            <a:r>
              <a:rPr sz="1400" b="1">
                <a:latin typeface="Gadugi" panose="020B0502040204020203" pitchFamily="34" charset="0"/>
                <a:ea typeface="Gadugi" panose="020B0502040204020203" pitchFamily="34" charset="0"/>
              </a:rPr>
              <a:t>Revenue of ₹4,113.90 Cr was 3.20% below its ₹4,250 Cr target.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581144"/>
            <a:ext cx="201168" cy="201168"/>
          </a:xfrm>
          <a:prstGeom prst="ellipse">
            <a:avLst/>
          </a:prstGeom>
          <a:solidFill>
            <a:srgbClr val="00A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87552" y="4544568"/>
            <a:ext cx="795596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55E"/>
                </a:solidFill>
              </a:defRPr>
            </a:pPr>
            <a:r>
              <a:rPr sz="1400" b="1">
                <a:latin typeface="Gadugi" panose="020B0502040204020203" pitchFamily="34" charset="0"/>
                <a:ea typeface="Gadugi" panose="020B0502040204020203" pitchFamily="34" charset="0"/>
              </a:rPr>
              <a:t>Portfolio is above target overall</a:t>
            </a:r>
          </a:p>
          <a:p>
            <a:pPr>
              <a:defRPr sz="1050">
                <a:solidFill>
                  <a:srgbClr val="232A32"/>
                </a:solidFill>
              </a:defRPr>
            </a:pPr>
            <a:r>
              <a:rPr sz="1400" b="1">
                <a:latin typeface="Gadugi" panose="020B0502040204020203" pitchFamily="34" charset="0"/>
                <a:ea typeface="Gadugi" panose="020B0502040204020203" pitchFamily="34" charset="0"/>
              </a:rPr>
              <a:t>Total revenue of ₹13,257.63 Cr is ₹157.63 Cr above the ₹13,100 Cr target, a +1.20% variance.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5385816"/>
            <a:ext cx="201168" cy="201168"/>
          </a:xfrm>
          <a:prstGeom prst="ellipse">
            <a:avLst/>
          </a:prstGeom>
          <a:solidFill>
            <a:srgbClr val="00A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87552" y="5349240"/>
            <a:ext cx="79567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55E"/>
                </a:solidFill>
              </a:defRPr>
            </a:pPr>
            <a:r>
              <a:rPr sz="1400" b="1">
                <a:latin typeface="Gadugi" panose="020B0502040204020203" pitchFamily="34" charset="0"/>
                <a:ea typeface="Gadugi" panose="020B0502040204020203" pitchFamily="34" charset="0"/>
              </a:rPr>
              <a:t>Pricing differs materially by OEM</a:t>
            </a:r>
          </a:p>
          <a:p>
            <a:pPr>
              <a:defRPr sz="1050">
                <a:solidFill>
                  <a:srgbClr val="232A32"/>
                </a:solidFill>
              </a:defRPr>
            </a:pPr>
            <a:r>
              <a:rPr sz="1400" b="1">
                <a:latin typeface="Gadugi" panose="020B0502040204020203" pitchFamily="34" charset="0"/>
                <a:ea typeface="Gadugi" panose="020B0502040204020203" pitchFamily="34" charset="0"/>
              </a:rPr>
              <a:t>BharatBenz has the highest ASP at ₹28.5 Lakh/unit; Eicher has the lowest at ₹16.2 Lakh/unit.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0528"/>
            <a:ext cx="11201400" cy="10972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0352" y="6547104"/>
            <a:ext cx="448712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8"/>
                </a:solidFill>
              </a:defRPr>
            </a:pPr>
            <a:r>
              <a:rPr b="1">
                <a:latin typeface="Gadugi" panose="020B0502040204020203" pitchFamily="34" charset="0"/>
                <a:ea typeface="Gadugi" panose="020B0502040204020203" pitchFamily="34" charset="0"/>
              </a:rPr>
              <a:t>Source: Supplied Excel workbook | July 2026 commercial vehicle sales &amp; revenue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8902" y="6528816"/>
            <a:ext cx="24397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978"/>
                </a:solidFill>
              </a:defRPr>
            </a:pPr>
            <a:r>
              <a:rPr b="1">
                <a:latin typeface="Gadugi" panose="020B0502040204020203" pitchFamily="34" charset="0"/>
                <a:ea typeface="Gadugi" panose="020B0502040204020203" pitchFamily="34" charset="0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pic>
        <p:nvPicPr>
          <p:cNvPr id="3" name="Picture 2" descr="3087406e-fe61-44ad-b0da-f0ce26188a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109728"/>
            <a:ext cx="1572768" cy="6434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84048"/>
            <a:ext cx="430303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55E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Data &amp; Calculation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633032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978"/>
                </a:solidFill>
              </a:defRPr>
            </a:pPr>
            <a:r>
              <a:rPr sz="2000" b="1" dirty="0">
                <a:latin typeface="Gadugi" panose="020B0502040204020203" pitchFamily="34" charset="0"/>
                <a:ea typeface="Gadugi" panose="020B0502040204020203" pitchFamily="34" charset="0"/>
              </a:rPr>
              <a:t>Definitions aligned to the supplied Excel workbook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4547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355E"/>
                </a:solidFill>
              </a:defRPr>
            </a:pPr>
            <a:r>
              <a:rPr sz="1400" b="1" dirty="0">
                <a:latin typeface="Gadugi" panose="020B0502040204020203" pitchFamily="34" charset="0"/>
                <a:ea typeface="Gadugi" panose="020B0502040204020203" pitchFamily="34" charset="0"/>
              </a:rPr>
              <a:t>Units Sold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371600"/>
            <a:ext cx="380020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A32"/>
                </a:solidFill>
              </a:defRPr>
            </a:pPr>
            <a:r>
              <a:rPr sz="1400" b="1" dirty="0">
                <a:latin typeface="Gadugi" panose="020B0502040204020203" pitchFamily="34" charset="0"/>
                <a:ea typeface="Gadugi" panose="020B0502040204020203" pitchFamily="34" charset="0"/>
              </a:rPr>
              <a:t>Commercial vehicle units sold in July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38528"/>
            <a:ext cx="52290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355E"/>
                </a:solidFill>
              </a:defRPr>
            </a:pPr>
            <a:r>
              <a:rPr sz="1400" b="1">
                <a:latin typeface="Gadugi" panose="020B0502040204020203" pitchFamily="34" charset="0"/>
                <a:ea typeface="Gadugi" panose="020B0502040204020203" pitchFamily="34" charset="0"/>
              </a:rPr>
              <a:t>ASP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938528"/>
            <a:ext cx="354116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A32"/>
                </a:solidFill>
              </a:defRPr>
            </a:pPr>
            <a:r>
              <a:rPr sz="1400" b="1" dirty="0">
                <a:latin typeface="Gadugi" panose="020B0502040204020203" pitchFamily="34" charset="0"/>
                <a:ea typeface="Gadugi" panose="020B0502040204020203" pitchFamily="34" charset="0"/>
              </a:rPr>
              <a:t>Average Selling Price in ₹ Lakh per unit.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05456"/>
            <a:ext cx="137095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355E"/>
                </a:solidFill>
              </a:defRPr>
            </a:pPr>
            <a:r>
              <a:rPr sz="1400" b="1" dirty="0">
                <a:latin typeface="Gadugi" panose="020B0502040204020203" pitchFamily="34" charset="0"/>
                <a:ea typeface="Gadugi" panose="020B0502040204020203" pitchFamily="34" charset="0"/>
              </a:rPr>
              <a:t>Total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505456"/>
            <a:ext cx="435042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A32"/>
                </a:solidFill>
              </a:defRPr>
            </a:pPr>
            <a:r>
              <a:rPr sz="1400" b="1">
                <a:latin typeface="Gadugi" panose="020B0502040204020203" pitchFamily="34" charset="0"/>
                <a:ea typeface="Gadugi" panose="020B0502040204020203" pitchFamily="34" charset="0"/>
              </a:rPr>
              <a:t>Revenue in ₹ Crore, as provided in the workbook.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72384"/>
            <a:ext cx="149137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355E"/>
                </a:solidFill>
              </a:defRPr>
            </a:pPr>
            <a:r>
              <a:rPr sz="1400" b="1" dirty="0">
                <a:latin typeface="Gadugi" panose="020B0502040204020203" pitchFamily="34" charset="0"/>
                <a:ea typeface="Gadugi" panose="020B0502040204020203" pitchFamily="34" charset="0"/>
              </a:rPr>
              <a:t>Target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072384"/>
            <a:ext cx="239007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A32"/>
                </a:solidFill>
              </a:defRPr>
            </a:pPr>
            <a:r>
              <a:rPr sz="1400" b="1">
                <a:latin typeface="Gadugi" panose="020B0502040204020203" pitchFamily="34" charset="0"/>
                <a:ea typeface="Gadugi" panose="020B0502040204020203" pitchFamily="34" charset="0"/>
              </a:rPr>
              <a:t>Revenue target in ₹ Crore.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39312"/>
            <a:ext cx="167084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355E"/>
                </a:solidFill>
              </a:defRPr>
            </a:pPr>
            <a:r>
              <a:rPr sz="1400" b="1">
                <a:latin typeface="Gadugi" panose="020B0502040204020203" pitchFamily="34" charset="0"/>
                <a:ea typeface="Gadugi" panose="020B0502040204020203" pitchFamily="34" charset="0"/>
              </a:rPr>
              <a:t>Revenue Variance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639312"/>
            <a:ext cx="469301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A32"/>
                </a:solidFill>
              </a:defRPr>
            </a:pPr>
            <a:r>
              <a:rPr sz="1400" b="1">
                <a:latin typeface="Gadugi" panose="020B0502040204020203" pitchFamily="34" charset="0"/>
                <a:ea typeface="Gadugi" panose="020B0502040204020203" pitchFamily="34" charset="0"/>
              </a:rPr>
              <a:t>(Actual Revenue − Target Revenue) / Target Revenue.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06240"/>
            <a:ext cx="194412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355E"/>
                </a:solidFill>
              </a:defRPr>
            </a:pPr>
            <a:r>
              <a:rPr sz="1400" b="1">
                <a:latin typeface="Gadugi" panose="020B0502040204020203" pitchFamily="34" charset="0"/>
                <a:ea typeface="Gadugi" panose="020B0502040204020203" pitchFamily="34" charset="0"/>
              </a:rPr>
              <a:t>YoY Revenue 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4206240"/>
            <a:ext cx="580197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A32"/>
                </a:solidFill>
              </a:defRPr>
            </a:pPr>
            <a:r>
              <a:rPr sz="1400" b="1">
                <a:latin typeface="Gadugi" panose="020B0502040204020203" pitchFamily="34" charset="0"/>
                <a:ea typeface="Gadugi" panose="020B0502040204020203" pitchFamily="34" charset="0"/>
              </a:rPr>
              <a:t>Year-over-year revenue growth percentage supplied for each OEM.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73168"/>
            <a:ext cx="204241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355E"/>
                </a:solidFill>
              </a:defRPr>
            </a:pPr>
            <a:r>
              <a:rPr sz="1400" b="1">
                <a:latin typeface="Gadugi" panose="020B0502040204020203" pitchFamily="34" charset="0"/>
                <a:ea typeface="Gadugi" panose="020B0502040204020203" pitchFamily="34" charset="0"/>
              </a:rPr>
              <a:t>Portfolio Avg. 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773168"/>
            <a:ext cx="503740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A32"/>
                </a:solidFill>
              </a:defRPr>
            </a:pPr>
            <a:r>
              <a:rPr sz="1400" b="1">
                <a:latin typeface="Gadugi" panose="020B0502040204020203" pitchFamily="34" charset="0"/>
                <a:ea typeface="Gadugi" panose="020B0502040204020203" pitchFamily="34" charset="0"/>
              </a:rPr>
              <a:t>Simple average of the four OEM YoY growth percentages.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340096"/>
            <a:ext cx="230139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355E"/>
                </a:solidFill>
              </a:defRPr>
            </a:pPr>
            <a:r>
              <a:rPr sz="1400" b="1">
                <a:latin typeface="Gadugi" panose="020B0502040204020203" pitchFamily="34" charset="0"/>
                <a:ea typeface="Gadugi" panose="020B0502040204020203" pitchFamily="34" charset="0"/>
              </a:rPr>
              <a:t>Jul 2025 implied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5340096"/>
            <a:ext cx="878849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32A32"/>
                </a:solidFill>
              </a:defRPr>
            </a:pPr>
            <a:r>
              <a:rPr sz="1400" b="1" dirty="0">
                <a:latin typeface="Gadugi" panose="020B0502040204020203" pitchFamily="34" charset="0"/>
                <a:ea typeface="Gadugi" panose="020B0502040204020203" pitchFamily="34" charset="0"/>
              </a:rPr>
              <a:t>Calculated as Jul 2026 revenue / (1 + YoY growth). This is a derived comparison, not a raw Excel input.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10528"/>
            <a:ext cx="11201400" cy="10972"/>
          </a:xfrm>
          <a:prstGeom prst="rect">
            <a:avLst/>
          </a:prstGeom>
          <a:solidFill>
            <a:srgbClr val="D7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0352" y="6547104"/>
            <a:ext cx="448712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978"/>
                </a:solidFill>
              </a:defRPr>
            </a:pPr>
            <a:r>
              <a:rPr b="1" dirty="0">
                <a:latin typeface="Gadugi" panose="020B0502040204020203" pitchFamily="34" charset="0"/>
                <a:ea typeface="Gadugi" panose="020B0502040204020203" pitchFamily="34" charset="0"/>
              </a:rPr>
              <a:t>Source: Supplied Excel workbook | July 2026 commercial vehicle sales &amp; revenue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68902" y="6528816"/>
            <a:ext cx="24397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978"/>
                </a:solidFill>
              </a:defRPr>
            </a:pPr>
            <a:r>
              <a:rPr b="1">
                <a:latin typeface="Gadugi" panose="020B0502040204020203" pitchFamily="34" charset="0"/>
                <a:ea typeface="Gadugi" panose="020B0502040204020203" pitchFamily="34" charset="0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AF64636-9500-DDED-FBD8-9784C6B4CDC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pic>
        <p:nvPicPr>
          <p:cNvPr id="5" name="Picture 4" descr="3087406e-fe61-44ad-b0da-f0ce26188aac.png">
            <a:extLst>
              <a:ext uri="{FF2B5EF4-FFF2-40B4-BE49-F238E27FC236}">
                <a16:creationId xmlns:a16="http://schemas.microsoft.com/office/drawing/2014/main" id="{221A4652-706F-DC2C-8548-37ED6C430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109728"/>
            <a:ext cx="1572768" cy="6434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07D351-5D4D-F6F3-F55B-909685D2A453}"/>
              </a:ext>
            </a:extLst>
          </p:cNvPr>
          <p:cNvSpPr txBox="1"/>
          <p:nvPr/>
        </p:nvSpPr>
        <p:spPr>
          <a:xfrm>
            <a:off x="4993262" y="3089359"/>
            <a:ext cx="220547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55E"/>
                </a:solidFill>
              </a:defRPr>
            </a:pPr>
            <a:r>
              <a:rPr lang="en-IN" dirty="0">
                <a:latin typeface="Gadugi" panose="020B0502040204020203" pitchFamily="34" charset="0"/>
                <a:ea typeface="Gadugi" panose="020B0502040204020203" pitchFamily="34" charset="0"/>
              </a:rPr>
              <a:t>THANK YOU</a:t>
            </a:r>
            <a:endParaRPr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207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97</TotalTime>
  <Words>891</Words>
  <Application>Microsoft Office PowerPoint</Application>
  <PresentationFormat>Widescreen</PresentationFormat>
  <Paragraphs>174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Gadugi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Siddharth Burman</cp:lastModifiedBy>
  <cp:revision>5</cp:revision>
  <dcterms:created xsi:type="dcterms:W3CDTF">2013-01-27T09:14:16Z</dcterms:created>
  <dcterms:modified xsi:type="dcterms:W3CDTF">2026-09-01T16:37:59Z</dcterms:modified>
  <cp:category/>
</cp:coreProperties>
</file>